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4" r:id="rId9"/>
    <p:sldId id="263" r:id="rId10"/>
    <p:sldId id="264" r:id="rId11"/>
    <p:sldId id="265" r:id="rId12"/>
    <p:sldId id="276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94" autoAdjust="0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947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9E0A3-FA64-9F2D-9FD8-0A07BBC71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293896-1B16-8D21-4174-CE87108C85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A8A06E-3473-BD23-49CF-F8DEB7E52A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62AA3-81E7-1E3F-1D22-320DB9B4B4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3615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FCC11-ED71-9307-22FE-066AAB569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642B5C-1363-C3CE-22D9-5AB1135841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B3AFDB-601F-757E-F964-4BEDE9EA16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BBA82B-BA53-6154-FE19-8131A989AD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7126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sql-learn.github.io/sql-learning/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hyperlink" Target="https://sql-learn.github.io/sql-learning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2A4A8A"/>
          </a:solidFill>
          <a:ln/>
          <a:effectLst>
            <a:outerShdw blurRad="127000" dist="38100" dir="5400000" algn="bl" rotWithShape="0">
              <a:srgbClr val="1E3A70">
                <a:alpha val="18000"/>
              </a:srgbClr>
            </a:outerShdw>
          </a:effectLst>
        </p:spPr>
      </p:sp>
      <p:pic>
        <p:nvPicPr>
          <p:cNvPr id="3" name="Image 0" descr="assets/icon_databas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1" y="94366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9202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FB1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pgAdmin4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77240" y="233172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pgAdmin4 기반</a:t>
            </a:r>
            <a:endParaRPr lang="en-US" sz="4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업로드 매뉴얼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04672" y="40690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7D3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sql-learn 데이터베이스에 회원 · 상품 · 구매이력 데이터를 CSV로 </a:t>
            </a:r>
            <a:r>
              <a:rPr lang="en-US" sz="1450" dirty="0" err="1">
                <a:solidFill>
                  <a:srgbClr val="C7D3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업로드하는</a:t>
            </a:r>
            <a:r>
              <a:rPr lang="en-US" sz="1450" dirty="0">
                <a:solidFill>
                  <a:srgbClr val="C7D3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C7D3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과정을</a:t>
            </a:r>
            <a:r>
              <a:rPr lang="en-US" sz="1450" dirty="0">
                <a:solidFill>
                  <a:srgbClr val="C7D3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dirty="0" err="1">
                <a:solidFill>
                  <a:srgbClr val="C7D3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</a:t>
            </a:r>
            <a:r>
              <a:rPr lang="en-US" sz="1450" dirty="0">
                <a:solidFill>
                  <a:srgbClr val="C7D3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하는 실습 가이드입니다.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22960" y="4990010"/>
            <a:ext cx="2286000" cy="868680"/>
          </a:xfrm>
          <a:prstGeom prst="roundRect">
            <a:avLst>
              <a:gd name="adj" fmla="val 10526"/>
            </a:avLst>
          </a:prstGeom>
          <a:solidFill>
            <a:srgbClr val="16295C"/>
          </a:solidFill>
          <a:ln w="12700">
            <a:solidFill>
              <a:srgbClr val="2A4A8A"/>
            </a:solidFill>
            <a:prstDash val="solid"/>
          </a:ln>
        </p:spPr>
      </p:sp>
      <p:pic>
        <p:nvPicPr>
          <p:cNvPr id="8" name="Image 1" descr="assets/icon_tabl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5191178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509973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t_member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417320" y="537405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B1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회원정보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337560" y="4990010"/>
            <a:ext cx="2286000" cy="868680"/>
          </a:xfrm>
          <a:prstGeom prst="roundRect">
            <a:avLst>
              <a:gd name="adj" fmla="val 10526"/>
            </a:avLst>
          </a:prstGeom>
          <a:solidFill>
            <a:srgbClr val="16295C"/>
          </a:solidFill>
          <a:ln w="12700">
            <a:solidFill>
              <a:srgbClr val="2A4A8A"/>
            </a:solidFill>
            <a:prstDash val="solid"/>
          </a:ln>
        </p:spPr>
      </p:sp>
      <p:pic>
        <p:nvPicPr>
          <p:cNvPr id="12" name="Image 2" descr="assets/icon_tabl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8728" y="5191178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931920" y="509973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t_product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3931920" y="537405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B1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상품정보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5852160" y="4990010"/>
            <a:ext cx="3017520" cy="868680"/>
          </a:xfrm>
          <a:prstGeom prst="roundRect">
            <a:avLst>
              <a:gd name="adj" fmla="val 10526"/>
            </a:avLst>
          </a:prstGeom>
          <a:solidFill>
            <a:srgbClr val="16295C"/>
          </a:solidFill>
          <a:ln w="12700">
            <a:solidFill>
              <a:srgbClr val="2A4A8A"/>
            </a:solidFill>
            <a:prstDash val="solid"/>
          </a:ln>
        </p:spPr>
      </p:sp>
      <p:pic>
        <p:nvPicPr>
          <p:cNvPr id="16" name="Image 3" descr="assets/icon_tabl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3328" y="5191178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46520" y="509973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t_purchase_history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446520" y="537405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B1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구매이력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822960" y="622445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85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Database: sql-learn        Tool: pgAdmin4        전제조건: PostgreSQL 설치 완료</a:t>
            </a:r>
            <a:endParaRPr lang="en-US" sz="1100" dirty="0"/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A7A084EA-4A40-0087-F732-5BCD04F0C312}"/>
              </a:ext>
            </a:extLst>
          </p:cNvPr>
          <p:cNvSpPr/>
          <p:nvPr/>
        </p:nvSpPr>
        <p:spPr>
          <a:xfrm>
            <a:off x="6203449" y="5945340"/>
            <a:ext cx="5332461" cy="690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0" dirty="0">
                <a:solidFill>
                  <a:srgbClr val="C7D3EA"/>
                </a:solidFill>
                <a:latin typeface="Malgun Gothic" pitchFamily="34" charset="0"/>
                <a:ea typeface="Malgun Gothic" pitchFamily="34" charset="-122"/>
              </a:rPr>
              <a:t>PostgreSQL </a:t>
            </a:r>
            <a:r>
              <a:rPr lang="ko-KR" altLang="en-US" sz="1450" dirty="0">
                <a:solidFill>
                  <a:srgbClr val="C7D3EA"/>
                </a:solidFill>
                <a:latin typeface="Malgun Gothic" pitchFamily="34" charset="0"/>
                <a:ea typeface="Malgun Gothic" pitchFamily="34" charset="-122"/>
              </a:rPr>
              <a:t>설치 매뉴얼 및 </a:t>
            </a:r>
            <a:r>
              <a:rPr lang="en-US" sz="1450" dirty="0">
                <a:solidFill>
                  <a:srgbClr val="C7D3EA"/>
                </a:solidFill>
                <a:latin typeface="Malgun Gothic" pitchFamily="34" charset="0"/>
                <a:ea typeface="Malgun Gothic" pitchFamily="34" charset="-122"/>
              </a:rPr>
              <a:t>CSV</a:t>
            </a:r>
            <a:r>
              <a:rPr lang="ko-KR" altLang="en-US" sz="1450" dirty="0">
                <a:solidFill>
                  <a:srgbClr val="C7D3EA"/>
                </a:solidFill>
                <a:latin typeface="Malgun Gothic" pitchFamily="34" charset="0"/>
                <a:ea typeface="Malgun Gothic" pitchFamily="34" charset="-122"/>
              </a:rPr>
              <a:t> 파일 다운로드</a:t>
            </a:r>
            <a:br>
              <a:rPr lang="en-US" altLang="ko-KR" sz="1450" dirty="0">
                <a:solidFill>
                  <a:srgbClr val="C7D3EA"/>
                </a:solidFill>
                <a:latin typeface="Malgun Gothic" pitchFamily="34" charset="0"/>
                <a:ea typeface="Malgun Gothic" pitchFamily="34" charset="-122"/>
              </a:rPr>
            </a:br>
            <a:r>
              <a:rPr lang="en-US" altLang="ko-KR" sz="16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https://sql-learn.github.io/sql-learning/</a:t>
            </a:r>
            <a:endParaRPr lang="en-US" sz="1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매뉴얼에서 다루는 내용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94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7E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3000" y="16916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준비사항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9842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· pgAdmin4 · CSV 파일 확인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5074920" cy="0"/>
          </a:xfrm>
          <a:prstGeom prst="line">
            <a:avLst/>
          </a:prstGeom>
          <a:noFill/>
          <a:ln w="12700">
            <a:solidFill>
              <a:srgbClr val="DC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295144"/>
            <a:ext cx="594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7E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43000" y="229514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진행 흐름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5877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연결부터 데이터 확인까지 5단계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843784"/>
            <a:ext cx="5074920" cy="0"/>
          </a:xfrm>
          <a:prstGeom prst="line">
            <a:avLst/>
          </a:prstGeom>
          <a:noFill/>
          <a:ln w="12700">
            <a:solidFill>
              <a:srgbClr val="DC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898648"/>
            <a:ext cx="594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7E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43000" y="289864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연결 &amp; DB 생성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19125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pgAdmin4 실행, sql-learn 데이터베이스 생성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447288"/>
            <a:ext cx="5074920" cy="0"/>
          </a:xfrm>
          <a:prstGeom prst="line">
            <a:avLst/>
          </a:prstGeom>
          <a:noFill/>
          <a:ln w="12700">
            <a:solidFill>
              <a:srgbClr val="DCE4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502152"/>
            <a:ext cx="594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7E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43000" y="35021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 생성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37947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Query Tool로 3개 테이블 생성 (SQL 실행)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89320" y="1691640"/>
            <a:ext cx="594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7E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583680" y="16916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 파일 준비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0" y="19842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테이블별 컬럼 순서와 형식 맞추기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89320" y="2240280"/>
            <a:ext cx="5074920" cy="0"/>
          </a:xfrm>
          <a:prstGeom prst="line">
            <a:avLst/>
          </a:prstGeom>
          <a:noFill/>
          <a:ln w="12700">
            <a:solidFill>
              <a:srgbClr val="DCE4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2295144"/>
            <a:ext cx="594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7E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583680" y="229514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Import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83680" y="25877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Import/Export Data 기능으로 3개 테이블 업로드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89320" y="2843784"/>
            <a:ext cx="5074920" cy="0"/>
          </a:xfrm>
          <a:prstGeom prst="line">
            <a:avLst/>
          </a:prstGeom>
          <a:noFill/>
          <a:ln w="12700">
            <a:solidFill>
              <a:srgbClr val="DCE4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2898648"/>
            <a:ext cx="594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7E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583680" y="289864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확인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83680" y="319125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View/Edit Data로 업로드된 데이터 검증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989320" y="3447288"/>
            <a:ext cx="5074920" cy="0"/>
          </a:xfrm>
          <a:prstGeom prst="line">
            <a:avLst/>
          </a:prstGeom>
          <a:noFill/>
          <a:ln w="12700">
            <a:solidFill>
              <a:srgbClr val="DCE4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89320" y="3502152"/>
            <a:ext cx="594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7E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583680" y="35021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해결 가이드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583680" y="37947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발생하는 오류와 해결 방법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pgAdmin4 데이터 업로드 매뉴얼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503920" y="6547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sql-learn DB  |  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전에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준비사항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3가지가 준비되어 있어야 이 매뉴얼을 따라 할 수 있어요.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383280" cy="3246120"/>
          </a:xfrm>
          <a:prstGeom prst="roundRect">
            <a:avLst>
              <a:gd name="adj" fmla="val 3380"/>
            </a:avLst>
          </a:prstGeom>
          <a:solidFill>
            <a:srgbClr val="FBFCFE"/>
          </a:solidFill>
          <a:ln w="12700">
            <a:solidFill>
              <a:srgbClr val="DCE4F0"/>
            </a:solidFill>
            <a:prstDash val="solid"/>
          </a:ln>
          <a:effectLst>
            <a:outerShdw blurRad="127000" dist="38100" dir="5400000" algn="bl" rotWithShape="0">
              <a:srgbClr val="1E3A7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377440"/>
            <a:ext cx="685800" cy="685800"/>
          </a:xfrm>
          <a:prstGeom prst="roundRect">
            <a:avLst>
              <a:gd name="adj" fmla="val 24000"/>
            </a:avLst>
          </a:prstGeom>
          <a:solidFill>
            <a:srgbClr val="EAF1FC"/>
          </a:solidFill>
          <a:ln/>
          <a:effectLst>
            <a:outerShdw blurRad="127000" dist="38100" dir="5400000" algn="bl" rotWithShape="0">
              <a:srgbClr val="1E3A70">
                <a:alpha val="18000"/>
              </a:srgbClr>
            </a:outerShdw>
          </a:effectLst>
        </p:spPr>
      </p:sp>
      <p:pic>
        <p:nvPicPr>
          <p:cNvPr id="8" name="Image 0" descr="assets/icon_server_2F6F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255574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2461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설치 완료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22960" y="3544386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PC 또는 서버에 PostgreSQL이 설치되어 있고,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서버가 정상적으로 실행 중이어야 합니다.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51960" y="2057400"/>
            <a:ext cx="3383280" cy="3246120"/>
          </a:xfrm>
          <a:prstGeom prst="roundRect">
            <a:avLst>
              <a:gd name="adj" fmla="val 3380"/>
            </a:avLst>
          </a:prstGeom>
          <a:solidFill>
            <a:srgbClr val="FBFCFE"/>
          </a:solidFill>
          <a:ln w="12700">
            <a:solidFill>
              <a:srgbClr val="DCE4F0"/>
            </a:solidFill>
            <a:prstDash val="solid"/>
          </a:ln>
          <a:effectLst>
            <a:outerShdw blurRad="127000" dist="38100" dir="5400000" algn="bl" rotWithShape="0">
              <a:srgbClr val="1E3A7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26280" y="2377440"/>
            <a:ext cx="685800" cy="685800"/>
          </a:xfrm>
          <a:prstGeom prst="roundRect">
            <a:avLst>
              <a:gd name="adj" fmla="val 24000"/>
            </a:avLst>
          </a:prstGeom>
          <a:solidFill>
            <a:srgbClr val="EAF1FC"/>
          </a:solidFill>
          <a:ln/>
          <a:effectLst>
            <a:outerShdw blurRad="127000" dist="38100" dir="5400000" algn="bl" rotWithShape="0">
              <a:srgbClr val="1E3A70">
                <a:alpha val="18000"/>
              </a:srgbClr>
            </a:outerShdw>
          </a:effectLst>
        </p:spPr>
      </p:sp>
      <p:pic>
        <p:nvPicPr>
          <p:cNvPr id="13" name="Image 1" descr="assets/icon_plug_2F6F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4588" y="255574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26280" y="32461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pgAdmin4 설치 완료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526280" y="3544386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관리 도구인 pgAdmin4가 설치되어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있어야 합니다. (설치 시 함께 제공되는 경우가 많음)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955280" y="2057400"/>
            <a:ext cx="3383280" cy="3246120"/>
          </a:xfrm>
          <a:prstGeom prst="roundRect">
            <a:avLst>
              <a:gd name="adj" fmla="val 3380"/>
            </a:avLst>
          </a:prstGeom>
          <a:solidFill>
            <a:srgbClr val="FBFCFE"/>
          </a:solidFill>
          <a:ln w="12700">
            <a:solidFill>
              <a:srgbClr val="DCE4F0"/>
            </a:solidFill>
            <a:prstDash val="solid"/>
          </a:ln>
          <a:effectLst>
            <a:outerShdw blurRad="127000" dist="38100" dir="5400000" algn="bl" rotWithShape="0">
              <a:srgbClr val="1E3A7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0" y="2377440"/>
            <a:ext cx="685800" cy="685800"/>
          </a:xfrm>
          <a:prstGeom prst="roundRect">
            <a:avLst>
              <a:gd name="adj" fmla="val 24000"/>
            </a:avLst>
          </a:prstGeom>
          <a:solidFill>
            <a:srgbClr val="EAF1FC"/>
          </a:solidFill>
          <a:ln/>
          <a:effectLst>
            <a:outerShdw blurRad="127000" dist="38100" dir="5400000" algn="bl" rotWithShape="0">
              <a:srgbClr val="1E3A70">
                <a:alpha val="18000"/>
              </a:srgbClr>
            </a:outerShdw>
          </a:effectLst>
        </p:spPr>
      </p:sp>
      <p:pic>
        <p:nvPicPr>
          <p:cNvPr id="18" name="Image 2" descr="assets/icon_csv_2F6F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7908" y="255574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29600" y="32461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 데이터 파일 준비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229600" y="3544386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t_member, t_product, t_purchase_history에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업로드할 CSV 파일 3개를 준비합니다.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6DF"/>
          </a:solidFill>
          <a:ln w="12700">
            <a:solidFill>
              <a:srgbClr val="F0DFA0"/>
            </a:solidFill>
            <a:prstDash val="solid"/>
          </a:ln>
        </p:spPr>
      </p:sp>
      <p:pic>
        <p:nvPicPr>
          <p:cNvPr id="22" name="Image 3" descr="assets/icon_bulb_E8B92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696712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43000" y="5641848"/>
            <a:ext cx="10287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6D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43000" y="591616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PostgreSQL이 아직 없다면 공식 사이트(postgresql.org)에서 설치 프로그램을 내려받아 설치할 수 있습니다. 설치 과정에서 pgAdmin4가 함께 설치되는 옵션을 선택하면 별도 설치가 필요 없습니다.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pgAdmin4 데이터 업로드 매뉴얼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8503920" y="6547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sql-learn DB  |  3 / 18</a:t>
            </a:r>
            <a:endParaRPr lang="en-US" sz="900" dirty="0"/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3E63695E-A1CB-A094-8030-03574D9303FB}"/>
              </a:ext>
            </a:extLst>
          </p:cNvPr>
          <p:cNvSpPr/>
          <p:nvPr/>
        </p:nvSpPr>
        <p:spPr>
          <a:xfrm>
            <a:off x="8251374" y="4711336"/>
            <a:ext cx="3017518" cy="620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200" i="1" dirty="0">
                <a:latin typeface="Malgun Gothic" pitchFamily="34" charset="0"/>
                <a:ea typeface="Malgun Gothic" pitchFamily="34" charset="-122"/>
              </a:rPr>
              <a:t>CSV</a:t>
            </a:r>
            <a:r>
              <a:rPr lang="ko-KR" altLang="en-US" sz="1200" i="1" dirty="0">
                <a:latin typeface="Malgun Gothic" pitchFamily="34" charset="0"/>
                <a:ea typeface="Malgun Gothic" pitchFamily="34" charset="-122"/>
              </a:rPr>
              <a:t> 파일 다운로드</a:t>
            </a:r>
            <a:endParaRPr lang="en-US" altLang="ko-KR" sz="1200" i="1" dirty="0">
              <a:latin typeface="Malgun Gothic" pitchFamily="34" charset="0"/>
              <a:ea typeface="Malgun Gothic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ko-KR" sz="1200" b="1" i="1" dirty="0">
                <a:latin typeface="맑은 고딕" pitchFamily="34" charset="0"/>
                <a:ea typeface="맑은 고딕" pitchFamily="34" charset="-122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https://sql-learn.github.io/sql-learning/</a:t>
            </a:r>
            <a:endParaRPr lang="en-US" sz="1200" b="1" i="1" dirty="0"/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55759BAB-206C-E4B0-4C26-3A2834342B46}"/>
              </a:ext>
            </a:extLst>
          </p:cNvPr>
          <p:cNvSpPr/>
          <p:nvPr/>
        </p:nvSpPr>
        <p:spPr>
          <a:xfrm>
            <a:off x="777242" y="4711336"/>
            <a:ext cx="3017518" cy="620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altLang="ko-KR" sz="1200" i="1" dirty="0">
                <a:latin typeface="Malgun Gothic" pitchFamily="34" charset="0"/>
                <a:ea typeface="Malgun Gothic" pitchFamily="34" charset="-122"/>
              </a:rPr>
              <a:t>PostgreSQL </a:t>
            </a:r>
            <a:r>
              <a:rPr lang="ko-KR" altLang="en-US" sz="1200" i="1" dirty="0">
                <a:latin typeface="Malgun Gothic" pitchFamily="34" charset="0"/>
                <a:ea typeface="Malgun Gothic" pitchFamily="34" charset="-122"/>
              </a:rPr>
              <a:t>설치 매뉴얼</a:t>
            </a:r>
            <a:endParaRPr lang="en-US" altLang="ko-KR" sz="1200" i="1" dirty="0">
              <a:latin typeface="Malgun Gothic" pitchFamily="34" charset="0"/>
              <a:ea typeface="Malgun Gothic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ko-KR" sz="1200" b="1" i="1" dirty="0">
                <a:latin typeface="맑은 고딕" pitchFamily="34" charset="0"/>
                <a:ea typeface="맑은 고딕" pitchFamily="34" charset="-122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https://sql-learn.github.io/sql-learning/</a:t>
            </a:r>
            <a:endParaRPr lang="en-US" sz="1200" b="1" i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흐름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업로드, 5단계로 진행합니다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865376" cy="1737360"/>
          </a:xfrm>
          <a:prstGeom prst="roundRect">
            <a:avLst>
              <a:gd name="adj" fmla="val 6316"/>
            </a:avLst>
          </a:prstGeom>
          <a:solidFill>
            <a:srgbClr val="1E3A70"/>
          </a:solidFill>
          <a:ln/>
          <a:effectLst>
            <a:outerShdw blurRad="127000" dist="38100" dir="5400000" algn="bl" rotWithShape="0">
              <a:srgbClr val="1E3A7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286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B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pic>
        <p:nvPicPr>
          <p:cNvPr id="7" name="Image 0" descr="assets/icon_plu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697480"/>
            <a:ext cx="585216" cy="5852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38328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연결</a:t>
            </a:r>
            <a:endParaRPr lang="en-US" sz="1350" dirty="0"/>
          </a:p>
        </p:txBody>
      </p:sp>
      <p:pic>
        <p:nvPicPr>
          <p:cNvPr id="9" name="Image 1" descr="assets/icon_arrow_1E3A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6020" y="29352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734056" y="2194560"/>
            <a:ext cx="1865376" cy="1737360"/>
          </a:xfrm>
          <a:prstGeom prst="roundRect">
            <a:avLst>
              <a:gd name="adj" fmla="val 6316"/>
            </a:avLst>
          </a:prstGeom>
          <a:solidFill>
            <a:srgbClr val="1E3A70"/>
          </a:solidFill>
          <a:ln/>
          <a:effectLst>
            <a:outerShdw blurRad="127000" dist="38100" dir="5400000" algn="bl" rotWithShape="0">
              <a:srgbClr val="1E3A70">
                <a:alpha val="1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2871216" y="2286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B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pic>
        <p:nvPicPr>
          <p:cNvPr id="12" name="Image 2" descr="assets/icon_databas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4136" y="2697480"/>
            <a:ext cx="585216" cy="5852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825496" y="338328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생성</a:t>
            </a:r>
            <a:endParaRPr lang="en-US" sz="1350" dirty="0"/>
          </a:p>
        </p:txBody>
      </p:sp>
      <p:pic>
        <p:nvPicPr>
          <p:cNvPr id="14" name="Image 3" descr="assets/icon_arrow_1E3A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1436" y="2935224"/>
            <a:ext cx="256032" cy="256032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4919472" y="2194560"/>
            <a:ext cx="1865376" cy="1737360"/>
          </a:xfrm>
          <a:prstGeom prst="roundRect">
            <a:avLst>
              <a:gd name="adj" fmla="val 6316"/>
            </a:avLst>
          </a:prstGeom>
          <a:solidFill>
            <a:srgbClr val="1E3A70"/>
          </a:solidFill>
          <a:ln/>
          <a:effectLst>
            <a:outerShdw blurRad="127000" dist="38100" dir="5400000" algn="bl" rotWithShape="0">
              <a:srgbClr val="1E3A70">
                <a:alpha val="18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5056632" y="2286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B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pic>
        <p:nvPicPr>
          <p:cNvPr id="17" name="Image 4" descr="assets/icon_tabl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9552" y="2697480"/>
            <a:ext cx="585216" cy="58521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010912" y="338328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 생성</a:t>
            </a:r>
            <a:endParaRPr lang="en-US" sz="1350" dirty="0"/>
          </a:p>
        </p:txBody>
      </p:sp>
      <p:pic>
        <p:nvPicPr>
          <p:cNvPr id="19" name="Image 5" descr="assets/icon_arrow_1E3A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6852" y="2935224"/>
            <a:ext cx="256032" cy="256032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7104888" y="2194560"/>
            <a:ext cx="1865376" cy="1737360"/>
          </a:xfrm>
          <a:prstGeom prst="roundRect">
            <a:avLst>
              <a:gd name="adj" fmla="val 6316"/>
            </a:avLst>
          </a:prstGeom>
          <a:solidFill>
            <a:srgbClr val="1E3A70"/>
          </a:solidFill>
          <a:ln/>
          <a:effectLst>
            <a:outerShdw blurRad="127000" dist="38100" dir="5400000" algn="bl" rotWithShape="0">
              <a:srgbClr val="1E3A70">
                <a:alpha val="18000"/>
              </a:srgbClr>
            </a:outerShdw>
          </a:effectLst>
        </p:spPr>
      </p:sp>
      <p:sp>
        <p:nvSpPr>
          <p:cNvPr id="21" name="Text 13"/>
          <p:cNvSpPr/>
          <p:nvPr/>
        </p:nvSpPr>
        <p:spPr>
          <a:xfrm>
            <a:off x="7242048" y="2286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B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pic>
        <p:nvPicPr>
          <p:cNvPr id="22" name="Image 6" descr="assets/icon_upload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4968" y="2697480"/>
            <a:ext cx="585216" cy="585216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196328" y="338328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Import</a:t>
            </a:r>
            <a:endParaRPr lang="en-US" sz="1350" dirty="0"/>
          </a:p>
        </p:txBody>
      </p:sp>
      <p:pic>
        <p:nvPicPr>
          <p:cNvPr id="24" name="Image 7" descr="assets/icon_arrow_1E3A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2268" y="2935224"/>
            <a:ext cx="256032" cy="256032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9290304" y="2194560"/>
            <a:ext cx="1865376" cy="1737360"/>
          </a:xfrm>
          <a:prstGeom prst="roundRect">
            <a:avLst>
              <a:gd name="adj" fmla="val 6316"/>
            </a:avLst>
          </a:prstGeom>
          <a:solidFill>
            <a:srgbClr val="1F9D6B"/>
          </a:solidFill>
          <a:ln/>
          <a:effectLst>
            <a:outerShdw blurRad="127000" dist="38100" dir="5400000" algn="bl" rotWithShape="0">
              <a:srgbClr val="1E3A70">
                <a:alpha val="18000"/>
              </a:srgbClr>
            </a:outerShdw>
          </a:effectLst>
        </p:spPr>
      </p:sp>
      <p:sp>
        <p:nvSpPr>
          <p:cNvPr id="26" name="Text 16"/>
          <p:cNvSpPr/>
          <p:nvPr/>
        </p:nvSpPr>
        <p:spPr>
          <a:xfrm>
            <a:off x="9427464" y="2286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B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pic>
        <p:nvPicPr>
          <p:cNvPr id="27" name="Image 8" descr="assets/icon_check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30384" y="2697480"/>
            <a:ext cx="585216" cy="585216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9381744" y="338328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확인</a:t>
            </a:r>
            <a:endParaRPr lang="en-US" sz="1350" dirty="0"/>
          </a:p>
        </p:txBody>
      </p:sp>
      <p:sp>
        <p:nvSpPr>
          <p:cNvPr id="29" name="Text 18"/>
          <p:cNvSpPr/>
          <p:nvPr/>
        </p:nvSpPr>
        <p:spPr>
          <a:xfrm>
            <a:off x="548640" y="44348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E3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Query Tool</a:t>
            </a:r>
            <a:r>
              <a:rPr lang="en-US" sz="12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사용해 SQL 스크립트로 테이블을 만들고, </a:t>
            </a:r>
            <a:r>
              <a:rPr lang="en-US" sz="1250" b="1" dirty="0">
                <a:solidFill>
                  <a:srgbClr val="1E3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Import/Export Data</a:t>
            </a:r>
            <a:r>
              <a:rPr lang="en-US" sz="12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기능을 사용해 CSV 파일을 각 테이블에 업로드합니다.</a:t>
            </a:r>
            <a:endParaRPr lang="en-US" sz="1250" dirty="0"/>
          </a:p>
        </p:txBody>
      </p:sp>
      <p:sp>
        <p:nvSpPr>
          <p:cNvPr id="30" name="Shape 19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DECEC"/>
          </a:solidFill>
          <a:ln w="12700">
            <a:solidFill>
              <a:srgbClr val="F3C9C9"/>
            </a:solidFill>
            <a:prstDash val="solid"/>
          </a:ln>
        </p:spPr>
      </p:sp>
      <p:pic>
        <p:nvPicPr>
          <p:cNvPr id="31" name="Image 9" descr="assets/icon_warning_D6454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" y="5239512"/>
            <a:ext cx="274320" cy="27432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1143000" y="5184648"/>
            <a:ext cx="10287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가져오는 순서에 주의하세요</a:t>
            </a:r>
            <a:endParaRPr lang="en-US" sz="1200" dirty="0"/>
          </a:p>
        </p:txBody>
      </p:sp>
      <p:sp>
        <p:nvSpPr>
          <p:cNvPr id="33" name="Text 21"/>
          <p:cNvSpPr/>
          <p:nvPr/>
        </p:nvSpPr>
        <p:spPr>
          <a:xfrm>
            <a:off x="1143000" y="5458968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t_purchase_history 테이블의 member_id, product_id 값은 t_member, t_product 테이블의 값을 참조하는 성격의 데이터입니다. 데이터 정합성을 위해 반드시 t_member → t_product → t_purchase_history 순서로 데이터를 먼저 업로드하세요.</a:t>
            </a:r>
            <a:endParaRPr lang="en-US" sz="1050" dirty="0"/>
          </a:p>
        </p:txBody>
      </p:sp>
      <p:sp>
        <p:nvSpPr>
          <p:cNvPr id="34" name="Text 22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pgAdmin4 데이터 업로드 매뉴얼</a:t>
            </a:r>
            <a:endParaRPr lang="en-US" sz="900" dirty="0"/>
          </a:p>
        </p:txBody>
      </p:sp>
      <p:sp>
        <p:nvSpPr>
          <p:cNvPr id="35" name="Text 23"/>
          <p:cNvSpPr/>
          <p:nvPr/>
        </p:nvSpPr>
        <p:spPr>
          <a:xfrm>
            <a:off x="8503920" y="6547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sql-learn DB  |  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pgAdmin4 실행 후 서버 연결하기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1E3A7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8992" y="1673352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pgAdmin4 실행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1956816"/>
            <a:ext cx="3675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설치된 pgAdmin4를 실행하면 웹 브라우저 형태의 화면이 열립니다.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384048" cy="384048"/>
          </a:xfrm>
          <a:prstGeom prst="ellipse">
            <a:avLst/>
          </a:prstGeom>
          <a:solidFill>
            <a:srgbClr val="1E3A7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8992" y="2496312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목록에서 서버 클릭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78992" y="2779776"/>
            <a:ext cx="3675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 트리 메뉴의 Servers 항목을 펼치고, 연결할 PostgreSQL 서버를 클릭합니다.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384048" cy="384048"/>
          </a:xfrm>
          <a:prstGeom prst="ellipse">
            <a:avLst/>
          </a:prstGeom>
          <a:solidFill>
            <a:srgbClr val="1E3A7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8992" y="3319272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 입력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78992" y="3602736"/>
            <a:ext cx="3675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시 설정한 postgres 계정 비밀번호를 입력하고 OK를 클릭합니다.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384048" cy="384048"/>
          </a:xfrm>
          <a:prstGeom prst="ellipse">
            <a:avLst/>
          </a:prstGeom>
          <a:solidFill>
            <a:srgbClr val="1E3A7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78992" y="4142232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완료 확인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78992" y="4425696"/>
            <a:ext cx="3675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아이콘이 활성화되고 하위 트리(Databases 등)가 나타나면 연결 성공입니다.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548640" y="507492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FF6DF"/>
          </a:solidFill>
          <a:ln w="12700">
            <a:solidFill>
              <a:srgbClr val="F0DFA0"/>
            </a:solidFill>
            <a:prstDash val="solid"/>
          </a:ln>
        </p:spPr>
      </p:sp>
      <p:pic>
        <p:nvPicPr>
          <p:cNvPr id="22" name="Image 0" descr="assets/icon_bulb_E8B9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239512"/>
            <a:ext cx="274320" cy="27432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143000" y="518464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6D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43000" y="545896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비밀번호는 'Save Password' 옵션을 체크하면 다음부터 입력하지 않아도 됩니다. (개인 PC에서만 권장)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074920" y="1691640"/>
            <a:ext cx="653796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77800" dist="50800" dir="5400000" algn="bl" rotWithShape="0">
              <a:srgbClr val="0B1A3D">
                <a:alpha val="2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074920" y="1691640"/>
            <a:ext cx="6537960" cy="329184"/>
          </a:xfrm>
          <a:prstGeom prst="roundRect">
            <a:avLst>
              <a:gd name="adj" fmla="val 22222"/>
            </a:avLst>
          </a:prstGeom>
          <a:solidFill>
            <a:srgbClr val="0B1A3D"/>
          </a:solidFill>
          <a:ln/>
        </p:spPr>
      </p:sp>
      <p:sp>
        <p:nvSpPr>
          <p:cNvPr id="27" name="Shape 24"/>
          <p:cNvSpPr/>
          <p:nvPr/>
        </p:nvSpPr>
        <p:spPr>
          <a:xfrm>
            <a:off x="5074920" y="1947672"/>
            <a:ext cx="6537960" cy="73152"/>
          </a:xfrm>
          <a:prstGeom prst="rect">
            <a:avLst/>
          </a:prstGeom>
          <a:solidFill>
            <a:srgbClr val="0B1A3D"/>
          </a:solidFill>
          <a:ln/>
        </p:spPr>
      </p:sp>
      <p:sp>
        <p:nvSpPr>
          <p:cNvPr id="28" name="Shape 25"/>
          <p:cNvSpPr/>
          <p:nvPr/>
        </p:nvSpPr>
        <p:spPr>
          <a:xfrm>
            <a:off x="5202936" y="1810512"/>
            <a:ext cx="91440" cy="9144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29" name="Shape 26"/>
          <p:cNvSpPr/>
          <p:nvPr/>
        </p:nvSpPr>
        <p:spPr>
          <a:xfrm>
            <a:off x="5385816" y="1810512"/>
            <a:ext cx="91440" cy="91440"/>
          </a:xfrm>
          <a:prstGeom prst="ellipse">
            <a:avLst/>
          </a:prstGeom>
          <a:solidFill>
            <a:srgbClr val="E8B923"/>
          </a:solidFill>
          <a:ln/>
        </p:spPr>
      </p:sp>
      <p:sp>
        <p:nvSpPr>
          <p:cNvPr id="30" name="Shape 27"/>
          <p:cNvSpPr/>
          <p:nvPr/>
        </p:nvSpPr>
        <p:spPr>
          <a:xfrm>
            <a:off x="5568696" y="1810512"/>
            <a:ext cx="91440" cy="91440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31" name="Text 28"/>
          <p:cNvSpPr/>
          <p:nvPr/>
        </p:nvSpPr>
        <p:spPr>
          <a:xfrm>
            <a:off x="5715000" y="1691640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3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pgAdmin 4  —  Browser</a:t>
            </a:r>
            <a:endParaRPr lang="en-US" sz="1050" dirty="0"/>
          </a:p>
        </p:txBody>
      </p:sp>
      <p:sp>
        <p:nvSpPr>
          <p:cNvPr id="51" name="Text 46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pgAdmin4 데이터 업로드 매뉴얼</a:t>
            </a:r>
            <a:endParaRPr lang="en-US" sz="900" dirty="0"/>
          </a:p>
        </p:txBody>
      </p:sp>
      <p:sp>
        <p:nvSpPr>
          <p:cNvPr id="52" name="Text 47"/>
          <p:cNvSpPr/>
          <p:nvPr/>
        </p:nvSpPr>
        <p:spPr>
          <a:xfrm>
            <a:off x="8503920" y="6547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sql-learn DB  |  5 / 18</a:t>
            </a:r>
            <a:endParaRPr lang="en-US" sz="900" dirty="0"/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D88D48C7-C2E5-9219-F8BA-9CA3100BEE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2936" y="2139163"/>
            <a:ext cx="6233900" cy="4289603"/>
          </a:xfrm>
          <a:prstGeom prst="rect">
            <a:avLst/>
          </a:prstGeom>
        </p:spPr>
      </p:pic>
      <p:sp>
        <p:nvSpPr>
          <p:cNvPr id="56" name="Shape 34">
            <a:extLst>
              <a:ext uri="{FF2B5EF4-FFF2-40B4-BE49-F238E27FC236}">
                <a16:creationId xmlns:a16="http://schemas.microsoft.com/office/drawing/2014/main" id="{F3FEEB5C-0FC5-A737-074B-AA85AED9465E}"/>
              </a:ext>
            </a:extLst>
          </p:cNvPr>
          <p:cNvSpPr/>
          <p:nvPr/>
        </p:nvSpPr>
        <p:spPr>
          <a:xfrm>
            <a:off x="6905549" y="3063240"/>
            <a:ext cx="4053535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27000" dist="38100" dir="5400000" algn="bl" rotWithShape="0">
              <a:srgbClr val="1E3A70">
                <a:alpha val="18000"/>
              </a:srgbClr>
            </a:outerShdw>
          </a:effectLst>
        </p:spPr>
      </p:sp>
      <p:sp>
        <p:nvSpPr>
          <p:cNvPr id="58" name="Shape 35">
            <a:extLst>
              <a:ext uri="{FF2B5EF4-FFF2-40B4-BE49-F238E27FC236}">
                <a16:creationId xmlns:a16="http://schemas.microsoft.com/office/drawing/2014/main" id="{0CCEE343-CB56-8FEC-2831-B1C1DD83E6BA}"/>
              </a:ext>
            </a:extLst>
          </p:cNvPr>
          <p:cNvSpPr/>
          <p:nvPr/>
        </p:nvSpPr>
        <p:spPr>
          <a:xfrm>
            <a:off x="6905549" y="3063240"/>
            <a:ext cx="4053535" cy="310896"/>
          </a:xfrm>
          <a:prstGeom prst="rect">
            <a:avLst/>
          </a:prstGeom>
          <a:solidFill>
            <a:srgbClr val="EAF1FC"/>
          </a:solidFill>
          <a:ln/>
        </p:spPr>
      </p:sp>
      <p:sp>
        <p:nvSpPr>
          <p:cNvPr id="60" name="Text 36">
            <a:extLst>
              <a:ext uri="{FF2B5EF4-FFF2-40B4-BE49-F238E27FC236}">
                <a16:creationId xmlns:a16="http://schemas.microsoft.com/office/drawing/2014/main" id="{6EA75CEF-AA78-F379-399B-D2CEDDA227CE}"/>
              </a:ext>
            </a:extLst>
          </p:cNvPr>
          <p:cNvSpPr/>
          <p:nvPr/>
        </p:nvSpPr>
        <p:spPr>
          <a:xfrm>
            <a:off x="7042709" y="3063240"/>
            <a:ext cx="3779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 to Server</a:t>
            </a:r>
            <a:endParaRPr lang="en-US" sz="1050" dirty="0"/>
          </a:p>
        </p:txBody>
      </p:sp>
      <p:sp>
        <p:nvSpPr>
          <p:cNvPr id="62" name="Text 37">
            <a:extLst>
              <a:ext uri="{FF2B5EF4-FFF2-40B4-BE49-F238E27FC236}">
                <a16:creationId xmlns:a16="http://schemas.microsoft.com/office/drawing/2014/main" id="{46509F63-CE67-8F82-EBBD-A5467436A1BF}"/>
              </a:ext>
            </a:extLst>
          </p:cNvPr>
          <p:cNvSpPr/>
          <p:nvPr/>
        </p:nvSpPr>
        <p:spPr>
          <a:xfrm>
            <a:off x="7088429" y="35661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Password</a:t>
            </a:r>
            <a:endParaRPr lang="en-US" sz="1050" dirty="0"/>
          </a:p>
        </p:txBody>
      </p:sp>
      <p:sp>
        <p:nvSpPr>
          <p:cNvPr id="64" name="Shape 38">
            <a:extLst>
              <a:ext uri="{FF2B5EF4-FFF2-40B4-BE49-F238E27FC236}">
                <a16:creationId xmlns:a16="http://schemas.microsoft.com/office/drawing/2014/main" id="{31CF4E33-E520-9F63-42D6-4675B43994CB}"/>
              </a:ext>
            </a:extLst>
          </p:cNvPr>
          <p:cNvSpPr/>
          <p:nvPr/>
        </p:nvSpPr>
        <p:spPr>
          <a:xfrm>
            <a:off x="8002829" y="3566160"/>
            <a:ext cx="2773375" cy="310896"/>
          </a:xfrm>
          <a:prstGeom prst="roundRect">
            <a:avLst>
              <a:gd name="adj" fmla="val 11765"/>
            </a:avLst>
          </a:prstGeom>
          <a:solidFill>
            <a:srgbClr val="FBFCFE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66" name="Text 39">
            <a:extLst>
              <a:ext uri="{FF2B5EF4-FFF2-40B4-BE49-F238E27FC236}">
                <a16:creationId xmlns:a16="http://schemas.microsoft.com/office/drawing/2014/main" id="{AF54A8EA-1828-4E3C-2742-1F54014834C6}"/>
              </a:ext>
            </a:extLst>
          </p:cNvPr>
          <p:cNvSpPr/>
          <p:nvPr/>
        </p:nvSpPr>
        <p:spPr>
          <a:xfrm>
            <a:off x="8094269" y="3566160"/>
            <a:ext cx="25904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••••••••</a:t>
            </a:r>
            <a:endParaRPr lang="en-US" sz="1050" dirty="0"/>
          </a:p>
        </p:txBody>
      </p:sp>
      <p:sp>
        <p:nvSpPr>
          <p:cNvPr id="68" name="Shape 40">
            <a:extLst>
              <a:ext uri="{FF2B5EF4-FFF2-40B4-BE49-F238E27FC236}">
                <a16:creationId xmlns:a16="http://schemas.microsoft.com/office/drawing/2014/main" id="{4B086E26-4F44-D5B2-E145-9D6BE1AEFDAB}"/>
              </a:ext>
            </a:extLst>
          </p:cNvPr>
          <p:cNvSpPr/>
          <p:nvPr/>
        </p:nvSpPr>
        <p:spPr>
          <a:xfrm>
            <a:off x="7088429" y="3977640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70" name="Text 41">
            <a:extLst>
              <a:ext uri="{FF2B5EF4-FFF2-40B4-BE49-F238E27FC236}">
                <a16:creationId xmlns:a16="http://schemas.microsoft.com/office/drawing/2014/main" id="{13BC1D2B-D2BB-8892-924D-A3D3AFC93A1C}"/>
              </a:ext>
            </a:extLst>
          </p:cNvPr>
          <p:cNvSpPr/>
          <p:nvPr/>
        </p:nvSpPr>
        <p:spPr>
          <a:xfrm>
            <a:off x="7307885" y="39319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Save Password</a:t>
            </a:r>
            <a:endParaRPr lang="en-US" sz="950" dirty="0"/>
          </a:p>
        </p:txBody>
      </p:sp>
      <p:sp>
        <p:nvSpPr>
          <p:cNvPr id="72" name="Shape 42">
            <a:extLst>
              <a:ext uri="{FF2B5EF4-FFF2-40B4-BE49-F238E27FC236}">
                <a16:creationId xmlns:a16="http://schemas.microsoft.com/office/drawing/2014/main" id="{9320818D-C652-B0F5-445E-FF5FD93993C9}"/>
              </a:ext>
            </a:extLst>
          </p:cNvPr>
          <p:cNvSpPr/>
          <p:nvPr/>
        </p:nvSpPr>
        <p:spPr>
          <a:xfrm>
            <a:off x="9221724" y="4297680"/>
            <a:ext cx="7315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74" name="Text 43">
            <a:extLst>
              <a:ext uri="{FF2B5EF4-FFF2-40B4-BE49-F238E27FC236}">
                <a16:creationId xmlns:a16="http://schemas.microsoft.com/office/drawing/2014/main" id="{3279130A-FA9F-1E36-3A36-E2D1FACC8170}"/>
              </a:ext>
            </a:extLst>
          </p:cNvPr>
          <p:cNvSpPr/>
          <p:nvPr/>
        </p:nvSpPr>
        <p:spPr>
          <a:xfrm>
            <a:off x="9221724" y="42976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Cancel</a:t>
            </a:r>
            <a:endParaRPr lang="en-US" sz="1050" dirty="0"/>
          </a:p>
        </p:txBody>
      </p:sp>
      <p:sp>
        <p:nvSpPr>
          <p:cNvPr id="76" name="Shape 44">
            <a:extLst>
              <a:ext uri="{FF2B5EF4-FFF2-40B4-BE49-F238E27FC236}">
                <a16:creationId xmlns:a16="http://schemas.microsoft.com/office/drawing/2014/main" id="{C8087D55-10DD-590D-6708-85525C10D1F5}"/>
              </a:ext>
            </a:extLst>
          </p:cNvPr>
          <p:cNvSpPr/>
          <p:nvPr/>
        </p:nvSpPr>
        <p:spPr>
          <a:xfrm>
            <a:off x="10044684" y="4297680"/>
            <a:ext cx="731520" cy="292608"/>
          </a:xfrm>
          <a:prstGeom prst="roundRect">
            <a:avLst>
              <a:gd name="adj" fmla="val 18750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78" name="Text 45">
            <a:extLst>
              <a:ext uri="{FF2B5EF4-FFF2-40B4-BE49-F238E27FC236}">
                <a16:creationId xmlns:a16="http://schemas.microsoft.com/office/drawing/2014/main" id="{DC8351E2-A100-94DC-C664-FB4F2A18E780}"/>
              </a:ext>
            </a:extLst>
          </p:cNvPr>
          <p:cNvSpPr/>
          <p:nvPr/>
        </p:nvSpPr>
        <p:spPr>
          <a:xfrm>
            <a:off x="10044684" y="42976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OK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sql-learn 데이터베이스 생성하기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1E3A7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8992" y="1673352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Databases 우클릭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1956816"/>
            <a:ext cx="3675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트리에서 Databases 항목에 마우스 오른쪽 클릭합니다.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384048" cy="384048"/>
          </a:xfrm>
          <a:prstGeom prst="ellipse">
            <a:avLst/>
          </a:prstGeom>
          <a:solidFill>
            <a:srgbClr val="1E3A7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8992" y="2496312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Create → Database... 선택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78992" y="2779776"/>
            <a:ext cx="3675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메뉴에서 Create를 선택하면 하위 메뉴에 Database...가 나타납니다.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384048" cy="384048"/>
          </a:xfrm>
          <a:prstGeom prst="ellipse">
            <a:avLst/>
          </a:prstGeom>
          <a:solidFill>
            <a:srgbClr val="1E3A7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8992" y="3319272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 이름 입력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78992" y="3602736"/>
            <a:ext cx="3675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 필드에 "sql-learn"을 입력합니다. Owner는 기본값(postgres)을 사용합니다.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384048" cy="384048"/>
          </a:xfrm>
          <a:prstGeom prst="ellipse">
            <a:avLst/>
          </a:prstGeom>
          <a:solidFill>
            <a:srgbClr val="1E3A7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78992" y="4142232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Save 클릭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78992" y="4425696"/>
            <a:ext cx="3675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Save 버튼을 클릭하면 트리에 sql-learn 데이터베이스가 생성됩니다.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548640" y="507492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FF6DF"/>
          </a:solidFill>
          <a:ln w="12700">
            <a:solidFill>
              <a:srgbClr val="F0DFA0"/>
            </a:solidFill>
            <a:prstDash val="solid"/>
          </a:ln>
        </p:spPr>
      </p:sp>
      <p:pic>
        <p:nvPicPr>
          <p:cNvPr id="22" name="Image 0" descr="assets/icon_warning_E8B9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239512"/>
            <a:ext cx="274320" cy="27432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143000" y="518464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6D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43000" y="545896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 이름의 하이픈(-)은 그대로 입력하면 됩니다. pgAdmin4가 필요 시 자동으로 큰따옴표(") 처리를 해줍니다.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074920" y="1691640"/>
            <a:ext cx="653796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77800" dist="50800" dir="5400000" algn="bl" rotWithShape="0">
              <a:srgbClr val="0B1A3D">
                <a:alpha val="2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074920" y="1691640"/>
            <a:ext cx="6537960" cy="329184"/>
          </a:xfrm>
          <a:prstGeom prst="roundRect">
            <a:avLst>
              <a:gd name="adj" fmla="val 22222"/>
            </a:avLst>
          </a:prstGeom>
          <a:solidFill>
            <a:srgbClr val="0B1A3D"/>
          </a:solidFill>
          <a:ln/>
        </p:spPr>
      </p:sp>
      <p:sp>
        <p:nvSpPr>
          <p:cNvPr id="27" name="Shape 24"/>
          <p:cNvSpPr/>
          <p:nvPr/>
        </p:nvSpPr>
        <p:spPr>
          <a:xfrm>
            <a:off x="5074920" y="1947672"/>
            <a:ext cx="6537960" cy="73152"/>
          </a:xfrm>
          <a:prstGeom prst="rect">
            <a:avLst/>
          </a:prstGeom>
          <a:solidFill>
            <a:srgbClr val="0B1A3D"/>
          </a:solidFill>
          <a:ln/>
        </p:spPr>
      </p:sp>
      <p:sp>
        <p:nvSpPr>
          <p:cNvPr id="28" name="Shape 25"/>
          <p:cNvSpPr/>
          <p:nvPr/>
        </p:nvSpPr>
        <p:spPr>
          <a:xfrm>
            <a:off x="5202936" y="1810512"/>
            <a:ext cx="91440" cy="9144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29" name="Shape 26"/>
          <p:cNvSpPr/>
          <p:nvPr/>
        </p:nvSpPr>
        <p:spPr>
          <a:xfrm>
            <a:off x="5385816" y="1810512"/>
            <a:ext cx="91440" cy="91440"/>
          </a:xfrm>
          <a:prstGeom prst="ellipse">
            <a:avLst/>
          </a:prstGeom>
          <a:solidFill>
            <a:srgbClr val="E8B923"/>
          </a:solidFill>
          <a:ln/>
        </p:spPr>
      </p:sp>
      <p:sp>
        <p:nvSpPr>
          <p:cNvPr id="30" name="Shape 27"/>
          <p:cNvSpPr/>
          <p:nvPr/>
        </p:nvSpPr>
        <p:spPr>
          <a:xfrm>
            <a:off x="5568696" y="1810512"/>
            <a:ext cx="91440" cy="91440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31" name="Text 28"/>
          <p:cNvSpPr/>
          <p:nvPr/>
        </p:nvSpPr>
        <p:spPr>
          <a:xfrm>
            <a:off x="5715000" y="1691640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3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pgAdmin 4  —  Create - Database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5212080" y="220370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D7E5FA"/>
          </a:solidFill>
          <a:ln/>
        </p:spPr>
      </p:sp>
      <p:pic>
        <p:nvPicPr>
          <p:cNvPr id="33" name="Image 1" descr="assets/icon_database_2F6F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4084" y="2235708"/>
            <a:ext cx="137160" cy="13716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5504688" y="2157984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Servers ▸ PostgreSQL 16 ▸ Databases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5394960" y="2615184"/>
            <a:ext cx="5897880" cy="3465576"/>
          </a:xfrm>
          <a:prstGeom prst="roundRect">
            <a:avLst>
              <a:gd name="adj" fmla="val 2111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27000" dist="38100" dir="5400000" algn="bl" rotWithShape="0">
              <a:srgbClr val="1E3A70">
                <a:alpha val="18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5394960" y="2615184"/>
            <a:ext cx="5897880" cy="310896"/>
          </a:xfrm>
          <a:prstGeom prst="rect">
            <a:avLst/>
          </a:prstGeom>
          <a:solidFill>
            <a:srgbClr val="EAF1FC"/>
          </a:solidFill>
          <a:ln/>
        </p:spPr>
      </p:sp>
      <p:sp>
        <p:nvSpPr>
          <p:cNvPr id="37" name="Text 33"/>
          <p:cNvSpPr/>
          <p:nvPr/>
        </p:nvSpPr>
        <p:spPr>
          <a:xfrm>
            <a:off x="5532120" y="2615184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Create - Database</a:t>
            </a:r>
            <a:endParaRPr lang="en-US" sz="1050" dirty="0"/>
          </a:p>
        </p:txBody>
      </p:sp>
      <p:sp>
        <p:nvSpPr>
          <p:cNvPr id="38" name="Text 34"/>
          <p:cNvSpPr/>
          <p:nvPr/>
        </p:nvSpPr>
        <p:spPr>
          <a:xfrm>
            <a:off x="5532120" y="29992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General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5532120" y="3273552"/>
            <a:ext cx="1005840" cy="0"/>
          </a:xfrm>
          <a:prstGeom prst="line">
            <a:avLst/>
          </a:prstGeom>
          <a:noFill/>
          <a:ln w="25400">
            <a:solidFill>
              <a:srgbClr val="2F6FED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583680" y="29992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5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Definition</a:t>
            </a:r>
            <a:endParaRPr lang="en-US" sz="950" dirty="0"/>
          </a:p>
        </p:txBody>
      </p:sp>
      <p:sp>
        <p:nvSpPr>
          <p:cNvPr id="41" name="Text 37"/>
          <p:cNvSpPr/>
          <p:nvPr/>
        </p:nvSpPr>
        <p:spPr>
          <a:xfrm>
            <a:off x="7635240" y="29992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5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Security</a:t>
            </a:r>
            <a:endParaRPr lang="en-US" sz="950" dirty="0"/>
          </a:p>
        </p:txBody>
      </p:sp>
      <p:sp>
        <p:nvSpPr>
          <p:cNvPr id="42" name="Text 38"/>
          <p:cNvSpPr/>
          <p:nvPr/>
        </p:nvSpPr>
        <p:spPr>
          <a:xfrm>
            <a:off x="5623560" y="348386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</a:t>
            </a:r>
            <a:endParaRPr lang="en-US" sz="1050" dirty="0"/>
          </a:p>
        </p:txBody>
      </p:sp>
      <p:sp>
        <p:nvSpPr>
          <p:cNvPr id="43" name="Shape 39"/>
          <p:cNvSpPr/>
          <p:nvPr/>
        </p:nvSpPr>
        <p:spPr>
          <a:xfrm>
            <a:off x="6629400" y="3483864"/>
            <a:ext cx="4434840" cy="310896"/>
          </a:xfrm>
          <a:prstGeom prst="roundRect">
            <a:avLst>
              <a:gd name="adj" fmla="val 11765"/>
            </a:avLst>
          </a:prstGeom>
          <a:solidFill>
            <a:srgbClr val="FBFCFE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6720840" y="3483864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sql-learn</a:t>
            </a:r>
            <a:endParaRPr lang="en-US" sz="1050" dirty="0"/>
          </a:p>
        </p:txBody>
      </p:sp>
      <p:sp>
        <p:nvSpPr>
          <p:cNvPr id="45" name="Text 41"/>
          <p:cNvSpPr/>
          <p:nvPr/>
        </p:nvSpPr>
        <p:spPr>
          <a:xfrm>
            <a:off x="5623560" y="389534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Owner</a:t>
            </a:r>
            <a:endParaRPr lang="en-US" sz="1050" dirty="0"/>
          </a:p>
        </p:txBody>
      </p:sp>
      <p:sp>
        <p:nvSpPr>
          <p:cNvPr id="46" name="Shape 42"/>
          <p:cNvSpPr/>
          <p:nvPr/>
        </p:nvSpPr>
        <p:spPr>
          <a:xfrm>
            <a:off x="6629400" y="3895344"/>
            <a:ext cx="4434840" cy="310896"/>
          </a:xfrm>
          <a:prstGeom prst="roundRect">
            <a:avLst>
              <a:gd name="adj" fmla="val 11765"/>
            </a:avLst>
          </a:prstGeom>
          <a:solidFill>
            <a:srgbClr val="FBFCFE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6720840" y="3895344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</a:t>
            </a:r>
            <a:endParaRPr lang="en-US" sz="1050" dirty="0"/>
          </a:p>
        </p:txBody>
      </p:sp>
      <p:sp>
        <p:nvSpPr>
          <p:cNvPr id="48" name="Text 44"/>
          <p:cNvSpPr/>
          <p:nvPr/>
        </p:nvSpPr>
        <p:spPr>
          <a:xfrm>
            <a:off x="5623560" y="430682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Comment</a:t>
            </a:r>
            <a:endParaRPr lang="en-US" sz="1050" dirty="0"/>
          </a:p>
        </p:txBody>
      </p:sp>
      <p:sp>
        <p:nvSpPr>
          <p:cNvPr id="49" name="Shape 45"/>
          <p:cNvSpPr/>
          <p:nvPr/>
        </p:nvSpPr>
        <p:spPr>
          <a:xfrm>
            <a:off x="6629400" y="4306824"/>
            <a:ext cx="4434840" cy="310896"/>
          </a:xfrm>
          <a:prstGeom prst="roundRect">
            <a:avLst>
              <a:gd name="adj" fmla="val 11765"/>
            </a:avLst>
          </a:prstGeom>
          <a:solidFill>
            <a:srgbClr val="FBFCFE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6720840" y="4306824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5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 학습용 데이터베이스</a:t>
            </a:r>
            <a:endParaRPr lang="en-US" sz="1050" dirty="0"/>
          </a:p>
        </p:txBody>
      </p:sp>
      <p:sp>
        <p:nvSpPr>
          <p:cNvPr id="51" name="Shape 47"/>
          <p:cNvSpPr/>
          <p:nvPr/>
        </p:nvSpPr>
        <p:spPr>
          <a:xfrm>
            <a:off x="9555480" y="5623560"/>
            <a:ext cx="7315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9555480" y="5623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Cancel</a:t>
            </a:r>
            <a:endParaRPr lang="en-US" sz="1050" dirty="0"/>
          </a:p>
        </p:txBody>
      </p:sp>
      <p:sp>
        <p:nvSpPr>
          <p:cNvPr id="53" name="Shape 49"/>
          <p:cNvSpPr/>
          <p:nvPr/>
        </p:nvSpPr>
        <p:spPr>
          <a:xfrm>
            <a:off x="10378440" y="5623560"/>
            <a:ext cx="731520" cy="292608"/>
          </a:xfrm>
          <a:prstGeom prst="roundRect">
            <a:avLst>
              <a:gd name="adj" fmla="val 18750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10378440" y="5623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Save</a:t>
            </a:r>
            <a:endParaRPr lang="en-US" sz="1050" dirty="0"/>
          </a:p>
        </p:txBody>
      </p:sp>
      <p:sp>
        <p:nvSpPr>
          <p:cNvPr id="55" name="Text 51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pgAdmin4 데이터 업로드 매뉴얼</a:t>
            </a:r>
            <a:endParaRPr lang="en-US" sz="900" dirty="0"/>
          </a:p>
        </p:txBody>
      </p:sp>
      <p:sp>
        <p:nvSpPr>
          <p:cNvPr id="56" name="Text 52"/>
          <p:cNvSpPr/>
          <p:nvPr/>
        </p:nvSpPr>
        <p:spPr>
          <a:xfrm>
            <a:off x="8503920" y="6547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sql-learn DB  |  6 / 18</a:t>
            </a:r>
            <a:endParaRPr lang="en-US" sz="900" dirty="0"/>
          </a:p>
        </p:txBody>
      </p:sp>
      <p:pic>
        <p:nvPicPr>
          <p:cNvPr id="69" name="그림 68">
            <a:extLst>
              <a:ext uri="{FF2B5EF4-FFF2-40B4-BE49-F238E27FC236}">
                <a16:creationId xmlns:a16="http://schemas.microsoft.com/office/drawing/2014/main" id="{0D5091C1-E30A-A4A1-6E67-2126830BB7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9288" y="4877005"/>
            <a:ext cx="3423104" cy="179096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72" name="연결선: 꺾임 71">
            <a:extLst>
              <a:ext uri="{FF2B5EF4-FFF2-40B4-BE49-F238E27FC236}">
                <a16:creationId xmlns:a16="http://schemas.microsoft.com/office/drawing/2014/main" id="{F8116134-A337-EE04-8DB3-78E5856B8E07}"/>
              </a:ext>
            </a:extLst>
          </p:cNvPr>
          <p:cNvCxnSpPr>
            <a:cxnSpLocks/>
            <a:stCxn id="77" idx="6"/>
          </p:cNvCxnSpPr>
          <p:nvPr/>
        </p:nvCxnSpPr>
        <p:spPr>
          <a:xfrm flipV="1">
            <a:off x="7815408" y="4617721"/>
            <a:ext cx="898824" cy="96515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ACFB9678-7AEB-8658-4FEA-239798FFCCAD}"/>
              </a:ext>
            </a:extLst>
          </p:cNvPr>
          <p:cNvSpPr/>
          <p:nvPr/>
        </p:nvSpPr>
        <p:spPr>
          <a:xfrm>
            <a:off x="5504688" y="5577840"/>
            <a:ext cx="843645" cy="1737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Shape 3">
            <a:extLst>
              <a:ext uri="{FF2B5EF4-FFF2-40B4-BE49-F238E27FC236}">
                <a16:creationId xmlns:a16="http://schemas.microsoft.com/office/drawing/2014/main" id="{55A09E0B-2199-A353-6CDF-01A55C1D17D5}"/>
              </a:ext>
            </a:extLst>
          </p:cNvPr>
          <p:cNvSpPr/>
          <p:nvPr/>
        </p:nvSpPr>
        <p:spPr>
          <a:xfrm>
            <a:off x="7506909" y="5437490"/>
            <a:ext cx="308499" cy="290766"/>
          </a:xfrm>
          <a:prstGeom prst="ellipse">
            <a:avLst/>
          </a:prstGeom>
          <a:solidFill>
            <a:srgbClr val="1E3A70"/>
          </a:solidFill>
          <a:ln/>
        </p:spPr>
      </p:sp>
      <p:sp>
        <p:nvSpPr>
          <p:cNvPr id="79" name="Text 4">
            <a:extLst>
              <a:ext uri="{FF2B5EF4-FFF2-40B4-BE49-F238E27FC236}">
                <a16:creationId xmlns:a16="http://schemas.microsoft.com/office/drawing/2014/main" id="{0DB46675-24E3-D7A9-7544-F02F058DC5D8}"/>
              </a:ext>
            </a:extLst>
          </p:cNvPr>
          <p:cNvSpPr/>
          <p:nvPr/>
        </p:nvSpPr>
        <p:spPr>
          <a:xfrm>
            <a:off x="7469134" y="538553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Query Tool로 테이블 생성 준비하기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테이블은 CREATE TABLE 문을 Query Tool에서 직접 실행해서 만듭니다. 다음 3장에 걸쳐 t_member, t_product, t_purchase_history 테이블을 순서대로 생성합니다.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384048" cy="384048"/>
          </a:xfrm>
          <a:prstGeom prst="ellipse">
            <a:avLst/>
          </a:prstGeom>
          <a:solidFill>
            <a:srgbClr val="1E3A7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8992" y="2221992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sql-learn 선택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2505456"/>
            <a:ext cx="3675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트리에서 방금 생성한 sql-learn 데이터베이스를 클릭해 선택합니다.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548640" y="3311816"/>
            <a:ext cx="384048" cy="384048"/>
          </a:xfrm>
          <a:prstGeom prst="ellipse">
            <a:avLst/>
          </a:prstGeom>
          <a:solidFill>
            <a:srgbClr val="1E3A7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311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8992" y="329352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Query Tool 열기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78992" y="3576992"/>
            <a:ext cx="3675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상단 툴바의 Query Tool 아이콘을 클릭하거나, sql-learn을 우클릭 후 Query Tool을 선택합니다.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548640" y="4134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74920" y="1691640"/>
            <a:ext cx="653796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77800" dist="50800" dir="5400000" algn="bl" rotWithShape="0">
              <a:srgbClr val="0B1A3D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74920" y="1691640"/>
            <a:ext cx="6537960" cy="329184"/>
          </a:xfrm>
          <a:prstGeom prst="roundRect">
            <a:avLst>
              <a:gd name="adj" fmla="val 22222"/>
            </a:avLst>
          </a:prstGeom>
          <a:solidFill>
            <a:srgbClr val="0B1A3D"/>
          </a:solidFill>
          <a:ln/>
        </p:spPr>
      </p:sp>
      <p:sp>
        <p:nvSpPr>
          <p:cNvPr id="24" name="Shape 22"/>
          <p:cNvSpPr/>
          <p:nvPr/>
        </p:nvSpPr>
        <p:spPr>
          <a:xfrm>
            <a:off x="5074920" y="1947672"/>
            <a:ext cx="6537960" cy="73152"/>
          </a:xfrm>
          <a:prstGeom prst="rect">
            <a:avLst/>
          </a:prstGeom>
          <a:solidFill>
            <a:srgbClr val="0B1A3D"/>
          </a:solidFill>
          <a:ln/>
        </p:spPr>
      </p:sp>
      <p:sp>
        <p:nvSpPr>
          <p:cNvPr id="25" name="Shape 23"/>
          <p:cNvSpPr/>
          <p:nvPr/>
        </p:nvSpPr>
        <p:spPr>
          <a:xfrm>
            <a:off x="5202936" y="1810512"/>
            <a:ext cx="91440" cy="9144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26" name="Shape 24"/>
          <p:cNvSpPr/>
          <p:nvPr/>
        </p:nvSpPr>
        <p:spPr>
          <a:xfrm>
            <a:off x="5385816" y="1810512"/>
            <a:ext cx="91440" cy="91440"/>
          </a:xfrm>
          <a:prstGeom prst="ellipse">
            <a:avLst/>
          </a:prstGeom>
          <a:solidFill>
            <a:srgbClr val="E8B923"/>
          </a:solidFill>
          <a:ln/>
        </p:spPr>
      </p:sp>
      <p:sp>
        <p:nvSpPr>
          <p:cNvPr id="27" name="Shape 25"/>
          <p:cNvSpPr/>
          <p:nvPr/>
        </p:nvSpPr>
        <p:spPr>
          <a:xfrm>
            <a:off x="5568696" y="1810512"/>
            <a:ext cx="91440" cy="91440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28" name="Text 26"/>
          <p:cNvSpPr/>
          <p:nvPr/>
        </p:nvSpPr>
        <p:spPr>
          <a:xfrm>
            <a:off x="5715000" y="1691640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3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pgAdmin 4  —  sql-learn/postgres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5212080" y="5806440"/>
            <a:ext cx="6263640" cy="365760"/>
          </a:xfrm>
          <a:prstGeom prst="rect">
            <a:avLst/>
          </a:prstGeom>
          <a:solidFill>
            <a:srgbClr val="E8F8F1"/>
          </a:solidFill>
          <a:ln/>
        </p:spPr>
      </p:sp>
      <p:sp>
        <p:nvSpPr>
          <p:cNvPr id="40" name="Text 36"/>
          <p:cNvSpPr/>
          <p:nvPr/>
        </p:nvSpPr>
        <p:spPr>
          <a:xfrm>
            <a:off x="5349240" y="5806440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9D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Query returned successfully.</a:t>
            </a:r>
            <a:endParaRPr lang="en-US" sz="950" dirty="0"/>
          </a:p>
        </p:txBody>
      </p:sp>
      <p:sp>
        <p:nvSpPr>
          <p:cNvPr id="41" name="Text 37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pgAdmin4 데이터 업로드 매뉴얼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8503920" y="6547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sql-learn DB  |  7 / 18</a:t>
            </a:r>
            <a:endParaRPr lang="en-US" sz="900" dirty="0"/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5766878A-AED9-4ADE-1672-32400E774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4376" y="2121572"/>
            <a:ext cx="2875437" cy="2546440"/>
          </a:xfrm>
          <a:prstGeom prst="rect">
            <a:avLst/>
          </a:prstGeom>
        </p:spPr>
      </p:pic>
      <p:sp>
        <p:nvSpPr>
          <p:cNvPr id="46" name="직사각형 45">
            <a:extLst>
              <a:ext uri="{FF2B5EF4-FFF2-40B4-BE49-F238E27FC236}">
                <a16:creationId xmlns:a16="http://schemas.microsoft.com/office/drawing/2014/main" id="{46EEAA79-371F-AD38-C317-45477936CF5C}"/>
              </a:ext>
            </a:extLst>
          </p:cNvPr>
          <p:cNvSpPr/>
          <p:nvPr/>
        </p:nvSpPr>
        <p:spPr>
          <a:xfrm>
            <a:off x="5943600" y="3517198"/>
            <a:ext cx="843645" cy="1737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997E3417-3FE8-788C-9A7E-0F16841326AF}"/>
              </a:ext>
            </a:extLst>
          </p:cNvPr>
          <p:cNvGrpSpPr/>
          <p:nvPr/>
        </p:nvGrpSpPr>
        <p:grpSpPr>
          <a:xfrm>
            <a:off x="6653725" y="3419856"/>
            <a:ext cx="384048" cy="384048"/>
            <a:chOff x="7447630" y="5367528"/>
            <a:chExt cx="384048" cy="384048"/>
          </a:xfrm>
        </p:grpSpPr>
        <p:sp>
          <p:nvSpPr>
            <p:cNvPr id="48" name="Shape 3">
              <a:extLst>
                <a:ext uri="{FF2B5EF4-FFF2-40B4-BE49-F238E27FC236}">
                  <a16:creationId xmlns:a16="http://schemas.microsoft.com/office/drawing/2014/main" id="{F953D65F-DCA5-6C6E-F87E-F7349EB32FA4}"/>
                </a:ext>
              </a:extLst>
            </p:cNvPr>
            <p:cNvSpPr/>
            <p:nvPr/>
          </p:nvSpPr>
          <p:spPr>
            <a:xfrm>
              <a:off x="7506909" y="5437490"/>
              <a:ext cx="265491" cy="231790"/>
            </a:xfrm>
            <a:prstGeom prst="ellipse">
              <a:avLst/>
            </a:prstGeom>
            <a:solidFill>
              <a:srgbClr val="1E3A70"/>
            </a:solidFill>
            <a:ln/>
          </p:spPr>
        </p:sp>
        <p:sp>
          <p:nvSpPr>
            <p:cNvPr id="50" name="Text 4">
              <a:extLst>
                <a:ext uri="{FF2B5EF4-FFF2-40B4-BE49-F238E27FC236}">
                  <a16:creationId xmlns:a16="http://schemas.microsoft.com/office/drawing/2014/main" id="{FEFE8DC4-B7B8-2D85-E7E2-5040F8C1A37A}"/>
                </a:ext>
              </a:extLst>
            </p:cNvPr>
            <p:cNvSpPr/>
            <p:nvPr/>
          </p:nvSpPr>
          <p:spPr>
            <a:xfrm>
              <a:off x="7447630" y="5367528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</a:t>
              </a:r>
              <a:endParaRPr lang="en-US" sz="1400" dirty="0"/>
            </a:p>
          </p:txBody>
        </p:sp>
      </p:grpSp>
      <p:pic>
        <p:nvPicPr>
          <p:cNvPr id="53" name="그림 52">
            <a:extLst>
              <a:ext uri="{FF2B5EF4-FFF2-40B4-BE49-F238E27FC236}">
                <a16:creationId xmlns:a16="http://schemas.microsoft.com/office/drawing/2014/main" id="{B6C548B6-FCDD-3A8C-6CDE-D36FCE0B0F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9853" y="2162356"/>
            <a:ext cx="2872989" cy="2476715"/>
          </a:xfrm>
          <a:prstGeom prst="rect">
            <a:avLst/>
          </a:prstGeom>
        </p:spPr>
      </p:pic>
      <p:sp>
        <p:nvSpPr>
          <p:cNvPr id="55" name="화살표: 아래쪽 54">
            <a:extLst>
              <a:ext uri="{FF2B5EF4-FFF2-40B4-BE49-F238E27FC236}">
                <a16:creationId xmlns:a16="http://schemas.microsoft.com/office/drawing/2014/main" id="{EF75D7CB-E082-29A3-BCA5-71D01202AB86}"/>
              </a:ext>
            </a:extLst>
          </p:cNvPr>
          <p:cNvSpPr/>
          <p:nvPr/>
        </p:nvSpPr>
        <p:spPr>
          <a:xfrm rot="16200000">
            <a:off x="7172256" y="3348084"/>
            <a:ext cx="2037425" cy="283465"/>
          </a:xfrm>
          <a:prstGeom prst="downArrow">
            <a:avLst>
              <a:gd name="adj1" fmla="val 49129"/>
              <a:gd name="adj2" fmla="val 71923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E69F30A6-5E66-0272-EFA0-B90C18817926}"/>
              </a:ext>
            </a:extLst>
          </p:cNvPr>
          <p:cNvSpPr/>
          <p:nvPr/>
        </p:nvSpPr>
        <p:spPr>
          <a:xfrm>
            <a:off x="9088664" y="3314744"/>
            <a:ext cx="843645" cy="1737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0672F3D0-A2A2-E82C-72D6-FB46C066EE15}"/>
              </a:ext>
            </a:extLst>
          </p:cNvPr>
          <p:cNvGrpSpPr/>
          <p:nvPr/>
        </p:nvGrpSpPr>
        <p:grpSpPr>
          <a:xfrm>
            <a:off x="9786137" y="3195828"/>
            <a:ext cx="384048" cy="384048"/>
            <a:chOff x="7447630" y="5367528"/>
            <a:chExt cx="384048" cy="384048"/>
          </a:xfrm>
        </p:grpSpPr>
        <p:sp>
          <p:nvSpPr>
            <p:cNvPr id="61" name="Shape 3">
              <a:extLst>
                <a:ext uri="{FF2B5EF4-FFF2-40B4-BE49-F238E27FC236}">
                  <a16:creationId xmlns:a16="http://schemas.microsoft.com/office/drawing/2014/main" id="{9D723C00-52DA-D796-5B46-A6A5AF58F446}"/>
                </a:ext>
              </a:extLst>
            </p:cNvPr>
            <p:cNvSpPr/>
            <p:nvPr/>
          </p:nvSpPr>
          <p:spPr>
            <a:xfrm>
              <a:off x="7506909" y="5437490"/>
              <a:ext cx="265491" cy="231790"/>
            </a:xfrm>
            <a:prstGeom prst="ellipse">
              <a:avLst/>
            </a:prstGeom>
            <a:solidFill>
              <a:srgbClr val="1E3A70"/>
            </a:solidFill>
            <a:ln/>
          </p:spPr>
        </p:sp>
        <p:sp>
          <p:nvSpPr>
            <p:cNvPr id="62" name="Text 4">
              <a:extLst>
                <a:ext uri="{FF2B5EF4-FFF2-40B4-BE49-F238E27FC236}">
                  <a16:creationId xmlns:a16="http://schemas.microsoft.com/office/drawing/2014/main" id="{9C30C787-E11E-6007-8D9E-2B168B791715}"/>
                </a:ext>
              </a:extLst>
            </p:cNvPr>
            <p:cNvSpPr/>
            <p:nvPr/>
          </p:nvSpPr>
          <p:spPr>
            <a:xfrm>
              <a:off x="7447630" y="5367528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2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880FE-61B8-1095-BFEA-D57A80FDA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E6CE0EE-17A4-87AF-ADE6-4913E3798A31}"/>
              </a:ext>
            </a:extLst>
          </p:cNvPr>
          <p:cNvSpPr/>
          <p:nvPr/>
        </p:nvSpPr>
        <p:spPr>
          <a:xfrm>
            <a:off x="548640" y="45720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399D35F-0882-EEB8-0391-7D8DD253A94B}"/>
              </a:ext>
            </a:extLst>
          </p:cNvPr>
          <p:cNvSpPr/>
          <p:nvPr/>
        </p:nvSpPr>
        <p:spPr>
          <a:xfrm>
            <a:off x="548640" y="457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F26AE12-35A3-660D-8ACF-6C999D8C9621}"/>
              </a:ext>
            </a:extLst>
          </p:cNvPr>
          <p:cNvSpPr/>
          <p:nvPr/>
        </p:nvSpPr>
        <p:spPr>
          <a:xfrm>
            <a:off x="548640" y="8686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Query Tool로 테이블 생성 준비하기</a:t>
            </a:r>
            <a:endParaRPr lang="en-US" sz="25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2544FFF-BFBD-AE91-C3C7-5D80A1DF096D}"/>
              </a:ext>
            </a:extLst>
          </p:cNvPr>
          <p:cNvSpPr/>
          <p:nvPr/>
        </p:nvSpPr>
        <p:spPr>
          <a:xfrm>
            <a:off x="548640" y="14173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테이블은 CREATE TABLE 문을 Query Tool에서 직접 실행해서 만듭니다. 다음 3장에 걸쳐 t_member, t_product, t_purchase_history 테이블을 순서대로 생성합니다.</a:t>
            </a:r>
            <a:endParaRPr lang="en-US" sz="12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D3225DA-F0A4-E548-1B0E-AB9A1181C7EC}"/>
              </a:ext>
            </a:extLst>
          </p:cNvPr>
          <p:cNvSpPr/>
          <p:nvPr/>
        </p:nvSpPr>
        <p:spPr>
          <a:xfrm>
            <a:off x="548640" y="2456895"/>
            <a:ext cx="384048" cy="384048"/>
          </a:xfrm>
          <a:prstGeom prst="ellipse">
            <a:avLst/>
          </a:prstGeom>
          <a:solidFill>
            <a:srgbClr val="1E3A70"/>
          </a:solidFill>
          <a:ln/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19A7C6F-E5D8-908B-D741-DF64D3714CE6}"/>
              </a:ext>
            </a:extLst>
          </p:cNvPr>
          <p:cNvSpPr/>
          <p:nvPr/>
        </p:nvSpPr>
        <p:spPr>
          <a:xfrm>
            <a:off x="548640" y="245689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BECD724-0538-A5E8-6DCD-5D9BF6147E77}"/>
              </a:ext>
            </a:extLst>
          </p:cNvPr>
          <p:cNvSpPr/>
          <p:nvPr/>
        </p:nvSpPr>
        <p:spPr>
          <a:xfrm>
            <a:off x="1078992" y="2438607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 작성 및 실행</a:t>
            </a:r>
            <a:endParaRPr lang="en-US" sz="13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CE2754B-E5B3-A03D-E78B-E7DC4DDD55F3}"/>
              </a:ext>
            </a:extLst>
          </p:cNvPr>
          <p:cNvSpPr/>
          <p:nvPr/>
        </p:nvSpPr>
        <p:spPr>
          <a:xfrm>
            <a:off x="1078992" y="2722071"/>
            <a:ext cx="3675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편집창에 CREATE TABLE 문을 붙여넣고, Execute(▶) 버튼 또는 F5 키로 실행합니다.</a:t>
            </a:r>
            <a:endParaRPr lang="en-US" sz="108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E3B046D9-E36F-C33E-1B1D-4F30B4D6E933}"/>
              </a:ext>
            </a:extLst>
          </p:cNvPr>
          <p:cNvSpPr/>
          <p:nvPr/>
        </p:nvSpPr>
        <p:spPr>
          <a:xfrm>
            <a:off x="548640" y="3705984"/>
            <a:ext cx="384048" cy="384048"/>
          </a:xfrm>
          <a:prstGeom prst="ellipse">
            <a:avLst/>
          </a:prstGeom>
          <a:solidFill>
            <a:srgbClr val="1E3A70"/>
          </a:solidFill>
          <a:ln/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8C9525B-7936-6E31-FEC1-1A9E30BD389E}"/>
              </a:ext>
            </a:extLst>
          </p:cNvPr>
          <p:cNvSpPr/>
          <p:nvPr/>
        </p:nvSpPr>
        <p:spPr>
          <a:xfrm>
            <a:off x="548640" y="3705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4B2439A-258C-E5F4-9141-BC1025F8AAC4}"/>
              </a:ext>
            </a:extLst>
          </p:cNvPr>
          <p:cNvSpPr/>
          <p:nvPr/>
        </p:nvSpPr>
        <p:spPr>
          <a:xfrm>
            <a:off x="1078992" y="3687696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결과 확인</a:t>
            </a:r>
            <a:endParaRPr lang="en-US" sz="13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CA572A0-6692-19C0-FDDF-8364EFC51551}"/>
              </a:ext>
            </a:extLst>
          </p:cNvPr>
          <p:cNvSpPr/>
          <p:nvPr/>
        </p:nvSpPr>
        <p:spPr>
          <a:xfrm>
            <a:off x="1078992" y="3971160"/>
            <a:ext cx="3675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"Query returned successfully" 메시지가 나오면 테이블이 정상 생성된 것입니다.</a:t>
            </a:r>
            <a:endParaRPr lang="en-US" sz="108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1D029652-E06F-4A56-9000-8417B8F2A797}"/>
              </a:ext>
            </a:extLst>
          </p:cNvPr>
          <p:cNvSpPr/>
          <p:nvPr/>
        </p:nvSpPr>
        <p:spPr>
          <a:xfrm>
            <a:off x="5074920" y="1691640"/>
            <a:ext cx="653796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77800" dist="50800" dir="5400000" algn="bl" rotWithShape="0">
              <a:srgbClr val="0B1A3D">
                <a:alpha val="22000"/>
              </a:srgbClr>
            </a:outerShdw>
          </a:effectLst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131E17D6-EA76-4BCC-1EB6-737082022AB5}"/>
              </a:ext>
            </a:extLst>
          </p:cNvPr>
          <p:cNvSpPr/>
          <p:nvPr/>
        </p:nvSpPr>
        <p:spPr>
          <a:xfrm>
            <a:off x="5074920" y="1691640"/>
            <a:ext cx="6537960" cy="329184"/>
          </a:xfrm>
          <a:prstGeom prst="roundRect">
            <a:avLst>
              <a:gd name="adj" fmla="val 22222"/>
            </a:avLst>
          </a:prstGeom>
          <a:solidFill>
            <a:srgbClr val="0B1A3D"/>
          </a:solidFill>
          <a:ln/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1306240F-8519-0A2D-6098-D1BCD511BCD4}"/>
              </a:ext>
            </a:extLst>
          </p:cNvPr>
          <p:cNvSpPr/>
          <p:nvPr/>
        </p:nvSpPr>
        <p:spPr>
          <a:xfrm>
            <a:off x="5074920" y="1947672"/>
            <a:ext cx="6537960" cy="73152"/>
          </a:xfrm>
          <a:prstGeom prst="rect">
            <a:avLst/>
          </a:prstGeom>
          <a:solidFill>
            <a:srgbClr val="0B1A3D"/>
          </a:solidFill>
          <a:ln/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9086FBDB-23E4-EEDC-6EAD-55BEABF1FB95}"/>
              </a:ext>
            </a:extLst>
          </p:cNvPr>
          <p:cNvSpPr/>
          <p:nvPr/>
        </p:nvSpPr>
        <p:spPr>
          <a:xfrm>
            <a:off x="5202936" y="1810512"/>
            <a:ext cx="91440" cy="9144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2D6EAA88-99F5-6FF5-088F-023196273C8A}"/>
              </a:ext>
            </a:extLst>
          </p:cNvPr>
          <p:cNvSpPr/>
          <p:nvPr/>
        </p:nvSpPr>
        <p:spPr>
          <a:xfrm>
            <a:off x="5385816" y="1810512"/>
            <a:ext cx="91440" cy="91440"/>
          </a:xfrm>
          <a:prstGeom prst="ellipse">
            <a:avLst/>
          </a:prstGeom>
          <a:solidFill>
            <a:srgbClr val="E8B923"/>
          </a:solidFill>
          <a:ln/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C5A73617-B46F-C3C6-78C1-5713678ACA84}"/>
              </a:ext>
            </a:extLst>
          </p:cNvPr>
          <p:cNvSpPr/>
          <p:nvPr/>
        </p:nvSpPr>
        <p:spPr>
          <a:xfrm>
            <a:off x="5568696" y="1810512"/>
            <a:ext cx="91440" cy="91440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29305D9A-652C-571C-F657-56192C3101EF}"/>
              </a:ext>
            </a:extLst>
          </p:cNvPr>
          <p:cNvSpPr/>
          <p:nvPr/>
        </p:nvSpPr>
        <p:spPr>
          <a:xfrm>
            <a:off x="5715000" y="1691640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3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pgAdmin 4  —  sql-learn/postgres</a:t>
            </a:r>
            <a:endParaRPr lang="en-US" sz="1050" dirty="0"/>
          </a:p>
        </p:txBody>
      </p:sp>
      <p:sp>
        <p:nvSpPr>
          <p:cNvPr id="39" name="Shape 35">
            <a:extLst>
              <a:ext uri="{FF2B5EF4-FFF2-40B4-BE49-F238E27FC236}">
                <a16:creationId xmlns:a16="http://schemas.microsoft.com/office/drawing/2014/main" id="{B9F827D7-0BF1-BEB0-1C53-469C279CC7DD}"/>
              </a:ext>
            </a:extLst>
          </p:cNvPr>
          <p:cNvSpPr/>
          <p:nvPr/>
        </p:nvSpPr>
        <p:spPr>
          <a:xfrm>
            <a:off x="5212080" y="5806440"/>
            <a:ext cx="6263640" cy="365760"/>
          </a:xfrm>
          <a:prstGeom prst="rect">
            <a:avLst/>
          </a:prstGeom>
          <a:solidFill>
            <a:srgbClr val="E8F8F1"/>
          </a:solidFill>
          <a:ln/>
        </p:spPr>
      </p:sp>
      <p:sp>
        <p:nvSpPr>
          <p:cNvPr id="40" name="Text 36">
            <a:extLst>
              <a:ext uri="{FF2B5EF4-FFF2-40B4-BE49-F238E27FC236}">
                <a16:creationId xmlns:a16="http://schemas.microsoft.com/office/drawing/2014/main" id="{6773EBAB-08E1-1AF1-A994-6FEAF8D80210}"/>
              </a:ext>
            </a:extLst>
          </p:cNvPr>
          <p:cNvSpPr/>
          <p:nvPr/>
        </p:nvSpPr>
        <p:spPr>
          <a:xfrm>
            <a:off x="5349240" y="5806440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9D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Query returned successfully.</a:t>
            </a:r>
            <a:endParaRPr lang="en-US" sz="950" dirty="0"/>
          </a:p>
        </p:txBody>
      </p:sp>
      <p:sp>
        <p:nvSpPr>
          <p:cNvPr id="41" name="Text 37">
            <a:extLst>
              <a:ext uri="{FF2B5EF4-FFF2-40B4-BE49-F238E27FC236}">
                <a16:creationId xmlns:a16="http://schemas.microsoft.com/office/drawing/2014/main" id="{2D9620DB-2776-7BF4-2215-8E1B31DA85DC}"/>
              </a:ext>
            </a:extLst>
          </p:cNvPr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pgAdmin4 데이터 업로드 매뉴얼</a:t>
            </a:r>
            <a:endParaRPr lang="en-US" sz="900" dirty="0"/>
          </a:p>
        </p:txBody>
      </p:sp>
      <p:sp>
        <p:nvSpPr>
          <p:cNvPr id="42" name="Text 38">
            <a:extLst>
              <a:ext uri="{FF2B5EF4-FFF2-40B4-BE49-F238E27FC236}">
                <a16:creationId xmlns:a16="http://schemas.microsoft.com/office/drawing/2014/main" id="{BA70CF70-594C-B06E-17C0-65E277707F7A}"/>
              </a:ext>
            </a:extLst>
          </p:cNvPr>
          <p:cNvSpPr/>
          <p:nvPr/>
        </p:nvSpPr>
        <p:spPr>
          <a:xfrm>
            <a:off x="8503920" y="6547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sql-learn DB  |  7 / 18</a:t>
            </a:r>
            <a:endParaRPr lang="en-US" sz="900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833E98E3-CA82-1765-0EC8-FC919C565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2221992"/>
            <a:ext cx="5524197" cy="3451125"/>
          </a:xfrm>
          <a:prstGeom prst="rect">
            <a:avLst/>
          </a:prstGeom>
        </p:spPr>
      </p:pic>
      <p:sp>
        <p:nvSpPr>
          <p:cNvPr id="35" name="직사각형 34">
            <a:extLst>
              <a:ext uri="{FF2B5EF4-FFF2-40B4-BE49-F238E27FC236}">
                <a16:creationId xmlns:a16="http://schemas.microsoft.com/office/drawing/2014/main" id="{8AD3AB9C-338B-2014-B16E-91C6D5D85FBD}"/>
              </a:ext>
            </a:extLst>
          </p:cNvPr>
          <p:cNvSpPr/>
          <p:nvPr/>
        </p:nvSpPr>
        <p:spPr>
          <a:xfrm>
            <a:off x="9232856" y="2933765"/>
            <a:ext cx="265491" cy="2912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097E4C42-91F4-68C7-6A1C-F1B4D8DDE5D5}"/>
              </a:ext>
            </a:extLst>
          </p:cNvPr>
          <p:cNvGrpSpPr/>
          <p:nvPr/>
        </p:nvGrpSpPr>
        <p:grpSpPr>
          <a:xfrm>
            <a:off x="9173577" y="3032967"/>
            <a:ext cx="384048" cy="384048"/>
            <a:chOff x="7447630" y="5367528"/>
            <a:chExt cx="384048" cy="384048"/>
          </a:xfrm>
        </p:grpSpPr>
        <p:sp>
          <p:nvSpPr>
            <p:cNvPr id="37" name="Shape 3">
              <a:extLst>
                <a:ext uri="{FF2B5EF4-FFF2-40B4-BE49-F238E27FC236}">
                  <a16:creationId xmlns:a16="http://schemas.microsoft.com/office/drawing/2014/main" id="{504FD62D-8D91-8224-AC1B-1F642D71BEDD}"/>
                </a:ext>
              </a:extLst>
            </p:cNvPr>
            <p:cNvSpPr/>
            <p:nvPr/>
          </p:nvSpPr>
          <p:spPr>
            <a:xfrm>
              <a:off x="7506909" y="5437490"/>
              <a:ext cx="265491" cy="231790"/>
            </a:xfrm>
            <a:prstGeom prst="ellipse">
              <a:avLst/>
            </a:prstGeom>
            <a:solidFill>
              <a:srgbClr val="1E3A70"/>
            </a:solidFill>
            <a:ln/>
          </p:spPr>
        </p:sp>
        <p:sp>
          <p:nvSpPr>
            <p:cNvPr id="38" name="Text 4">
              <a:extLst>
                <a:ext uri="{FF2B5EF4-FFF2-40B4-BE49-F238E27FC236}">
                  <a16:creationId xmlns:a16="http://schemas.microsoft.com/office/drawing/2014/main" id="{5CC63FCD-A83D-E22F-794A-92CD1E289E41}"/>
                </a:ext>
              </a:extLst>
            </p:cNvPr>
            <p:cNvSpPr/>
            <p:nvPr/>
          </p:nvSpPr>
          <p:spPr>
            <a:xfrm>
              <a:off x="7447630" y="5367528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3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71653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3-1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t_member (회원) 테이블 생성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AF1FC"/>
          </a:solidFill>
          <a:ln/>
          <a:effectLst>
            <a:outerShdw blurRad="127000" dist="38100" dir="5400000" algn="bl" rotWithShape="0">
              <a:srgbClr val="1E3A70">
                <a:alpha val="18000"/>
              </a:srgbClr>
            </a:outerShdw>
          </a:effectLst>
        </p:spPr>
      </p:sp>
      <p:pic>
        <p:nvPicPr>
          <p:cNvPr id="6" name="Image 0" descr="assets/icon_table_2F6F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67335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5544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t_member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43000" y="18105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회원정보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23317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770632"/>
            <a:ext cx="82296" cy="82296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2660904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member_id를 기본키(PRIMARY KEY)로 사용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548640" y="3337560"/>
            <a:ext cx="82296" cy="82296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3" name="Text 10"/>
          <p:cNvSpPr/>
          <p:nvPr/>
        </p:nvSpPr>
        <p:spPr>
          <a:xfrm>
            <a:off x="749808" y="3227832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member_gender는 'M' 또는 'F'만 허용 (CHECK)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548640" y="3904488"/>
            <a:ext cx="82296" cy="82296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5" name="Text 12"/>
          <p:cNvSpPr/>
          <p:nvPr/>
        </p:nvSpPr>
        <p:spPr>
          <a:xfrm>
            <a:off x="749808" y="3794760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user_yn 기본값 'Y', membership_level 기본값 '00'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548640" y="4471416"/>
            <a:ext cx="82296" cy="82296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7" name="Text 14"/>
          <p:cNvSpPr/>
          <p:nvPr/>
        </p:nvSpPr>
        <p:spPr>
          <a:xfrm>
            <a:off x="749808" y="4361688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날짜값(YYYYMMDD)은 VARCHAR로 저장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548640" y="4892040"/>
            <a:ext cx="4160520" cy="1417320"/>
          </a:xfrm>
          <a:prstGeom prst="roundRect">
            <a:avLst>
              <a:gd name="adj" fmla="val 5161"/>
            </a:avLst>
          </a:prstGeom>
          <a:solidFill>
            <a:srgbClr val="0B1A3D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5056632"/>
            <a:ext cx="370332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9AA5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회원ID(영문,숫자 6~20자리)</a:t>
            </a:r>
            <a:endParaRPr lang="en-US" sz="100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9AA5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회원등급 00~10, 성별 M/F</a:t>
            </a:r>
            <a:endParaRPr lang="en-US" sz="100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9AA5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사용여부 Y/N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892040" y="1554480"/>
            <a:ext cx="6720840" cy="4754880"/>
          </a:xfrm>
          <a:prstGeom prst="roundRect">
            <a:avLst>
              <a:gd name="adj" fmla="val 1538"/>
            </a:avLst>
          </a:prstGeom>
          <a:solidFill>
            <a:srgbClr val="0B1A3D"/>
          </a:solidFill>
          <a:ln/>
        </p:spPr>
      </p:sp>
      <p:sp>
        <p:nvSpPr>
          <p:cNvPr id="21" name="Text 18"/>
          <p:cNvSpPr/>
          <p:nvPr/>
        </p:nvSpPr>
        <p:spPr>
          <a:xfrm>
            <a:off x="5120640" y="1719072"/>
            <a:ext cx="6263640" cy="442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8FB1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t_member (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D7E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member_id        VARCHAR(20) NOT NULL,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D7E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member_name      VARCHAR(30) NOT NULL,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D7E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password         VARCHAR(20) NOT NULL,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D7E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member_email     VARCHAR(20),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D7E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membership_date  VARCHAR(8)  NOT NULL,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D7E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membership_level VARCHAR(2)  NOT NULL DEFAULT '00',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D7E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birth_date       VARCHAR(8),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D7E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member_gender    VARCHAR(1),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D7E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user_yn          VARCHAR(1)  NOT NULL DEFAULT 'Y',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F7D7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CONSTRAINT pk_t_member PRIMARY KEY (member_id),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F7D7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CONSTRAINT ck_t_member_gender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D7E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 (member_gender IN ('M','F')),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F7D7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CONSTRAINT ck_t_member_useryn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D7E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 (user_yn IN ('Y','N'))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8FB1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3-1 · 테이블 생성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503920" y="6547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sql-learn DB  |  8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3-2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t_product (상품) 테이블 생성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AF1FC"/>
          </a:solidFill>
          <a:ln/>
          <a:effectLst>
            <a:outerShdw blurRad="127000" dist="38100" dir="5400000" algn="bl" rotWithShape="0">
              <a:srgbClr val="1E3A70">
                <a:alpha val="18000"/>
              </a:srgbClr>
            </a:outerShdw>
          </a:effectLst>
        </p:spPr>
      </p:sp>
      <p:pic>
        <p:nvPicPr>
          <p:cNvPr id="6" name="Image 0" descr="assets/icon_table_2F6F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67335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5544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t_product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43000" y="18105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상품정보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23317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770632"/>
            <a:ext cx="82296" cy="82296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2660904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product_id를 기본키(PRIMARY KEY)로 사용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548640" y="3337560"/>
            <a:ext cx="82296" cy="82296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3" name="Text 10"/>
          <p:cNvSpPr/>
          <p:nvPr/>
        </p:nvSpPr>
        <p:spPr>
          <a:xfrm>
            <a:off x="749808" y="3227832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product_price는 0 이상의 값만 허용 (CHECK)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548640" y="3904488"/>
            <a:ext cx="82296" cy="82296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5" name="Text 12"/>
          <p:cNvSpPr/>
          <p:nvPr/>
        </p:nvSpPr>
        <p:spPr>
          <a:xfrm>
            <a:off x="749808" y="3794760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sales_status는 'Y'(판매) 또는 'N'(판매종료)만 허용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548640" y="4471416"/>
            <a:ext cx="82296" cy="82296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7" name="Text 14"/>
          <p:cNvSpPr/>
          <p:nvPr/>
        </p:nvSpPr>
        <p:spPr>
          <a:xfrm>
            <a:off x="749808" y="4361688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sales_status 기본값은 'Y'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548640" y="4892040"/>
            <a:ext cx="4160520" cy="1417320"/>
          </a:xfrm>
          <a:prstGeom prst="roundRect">
            <a:avLst>
              <a:gd name="adj" fmla="val 5161"/>
            </a:avLst>
          </a:prstGeom>
          <a:solidFill>
            <a:srgbClr val="0B1A3D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5056632"/>
            <a:ext cx="370332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9AA5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상품ID(2~20자리)</a:t>
            </a:r>
            <a:endParaRPr lang="en-US" sz="100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9AA5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가격: 정수 8자리, 소수 2자리</a:t>
            </a:r>
            <a:endParaRPr lang="en-US" sz="100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9AA5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판매여부 Y(판매)/N(판매종료)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892040" y="1554480"/>
            <a:ext cx="6720840" cy="4754880"/>
          </a:xfrm>
          <a:prstGeom prst="roundRect">
            <a:avLst>
              <a:gd name="adj" fmla="val 1538"/>
            </a:avLst>
          </a:prstGeom>
          <a:solidFill>
            <a:srgbClr val="0B1A3D"/>
          </a:solidFill>
          <a:ln/>
        </p:spPr>
      </p:sp>
      <p:sp>
        <p:nvSpPr>
          <p:cNvPr id="21" name="Text 18"/>
          <p:cNvSpPr/>
          <p:nvPr/>
        </p:nvSpPr>
        <p:spPr>
          <a:xfrm>
            <a:off x="5120640" y="1719072"/>
            <a:ext cx="6263640" cy="442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8FB1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t_product (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D7E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product_id     VARCHAR(20)   NOT NULL,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D7E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product_name   VARCHAR(100)  NOT NULL,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D7E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product_price  NUMERIC(10,2) NOT NULL,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D7E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sales_status   VARCHAR(1)    NOT NULL DEFAULT 'Y',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F7D7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CONSTRAINT pk_t_product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D7E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PRIMARY KEY (product_id),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F7D7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CONSTRAINT ck_t_product_sales_status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D7E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 (sales_status IN ('Y','N')),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F7D7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CONSTRAINT ck_t_product_price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D7E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 (product_price &gt;= 0)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8FB1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3-2 · 테이블 생성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503920" y="6547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sql-learn DB  |  9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3-3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t_purchase_history (구매이력) 테이블 생성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AF1FC"/>
          </a:solidFill>
          <a:ln/>
          <a:effectLst>
            <a:outerShdw blurRad="127000" dist="38100" dir="5400000" algn="bl" rotWithShape="0">
              <a:srgbClr val="1E3A70">
                <a:alpha val="18000"/>
              </a:srgbClr>
            </a:outerShdw>
          </a:effectLst>
        </p:spPr>
      </p:sp>
      <p:pic>
        <p:nvPicPr>
          <p:cNvPr id="6" name="Image 0" descr="assets/icon_table_2F6F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67335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5544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t_purchase_history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43000" y="18105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구매이력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23317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770632"/>
            <a:ext cx="82296" cy="82296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2660904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sales_id(판매번호)를 기본키로 사용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548640" y="3337560"/>
            <a:ext cx="82296" cy="82296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3" name="Text 10"/>
          <p:cNvSpPr/>
          <p:nvPr/>
        </p:nvSpPr>
        <p:spPr>
          <a:xfrm>
            <a:off x="749808" y="3227832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member_id, product_id로 회원·상품 데이터를 참조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548640" y="3904488"/>
            <a:ext cx="82296" cy="82296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5" name="Text 12"/>
          <p:cNvSpPr/>
          <p:nvPr/>
        </p:nvSpPr>
        <p:spPr>
          <a:xfrm>
            <a:off x="749808" y="3794760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payment_method는 '00'/'01'/'02' 중 하나만 허용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548640" y="4471416"/>
            <a:ext cx="82296" cy="82296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7" name="Text 14"/>
          <p:cNvSpPr/>
          <p:nvPr/>
        </p:nvSpPr>
        <p:spPr>
          <a:xfrm>
            <a:off x="749808" y="4361688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sales_id는 YYYYMMDD + 일련번호 5자리(총 13자리)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548640" y="4892040"/>
            <a:ext cx="4160520" cy="1417320"/>
          </a:xfrm>
          <a:prstGeom prst="roundRect">
            <a:avLst>
              <a:gd name="adj" fmla="val 5161"/>
            </a:avLst>
          </a:prstGeom>
          <a:solidFill>
            <a:srgbClr val="0B1A3D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5056632"/>
            <a:ext cx="370332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9AA5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판매번호: YYYYMMDD+5자리 자동증가</a:t>
            </a:r>
            <a:endParaRPr lang="en-US" sz="100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9AA5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결제방식 00:카드 01:무통장 02:포인트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892040" y="1554480"/>
            <a:ext cx="6720840" cy="4754880"/>
          </a:xfrm>
          <a:prstGeom prst="roundRect">
            <a:avLst>
              <a:gd name="adj" fmla="val 1538"/>
            </a:avLst>
          </a:prstGeom>
          <a:solidFill>
            <a:srgbClr val="0B1A3D"/>
          </a:solidFill>
          <a:ln/>
        </p:spPr>
      </p:sp>
      <p:sp>
        <p:nvSpPr>
          <p:cNvPr id="21" name="Text 18"/>
          <p:cNvSpPr/>
          <p:nvPr/>
        </p:nvSpPr>
        <p:spPr>
          <a:xfrm>
            <a:off x="5120640" y="1719072"/>
            <a:ext cx="6263640" cy="442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8FB1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t_purchase_history (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D7E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sales_id        VARCHAR(13) NOT NULL,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D7E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member_id       VARCHAR(20) NOT NULL,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D7E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product_id      VARCHAR(20) NOT NULL,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D7E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purchase_date   VARCHAR(8)  NOT NULL,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D7E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payment_method  VARCHAR(2)  NOT NULL,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F7D7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CONSTRAINT pk_t_purchase_history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D7E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PRIMARY KEY (sales_id),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F7D7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CONSTRAINT ck_purchase_payment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D7E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 (payment_method IN ('00','01','02'))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8FB1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3-3 · 테이블 생성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503920" y="6547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sql-learn DB  |  10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2E867-97D9-5482-AC42-9028EFC73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9C5196D-115D-3258-164D-986551F8D15B}"/>
              </a:ext>
            </a:extLst>
          </p:cNvPr>
          <p:cNvSpPr/>
          <p:nvPr/>
        </p:nvSpPr>
        <p:spPr>
          <a:xfrm>
            <a:off x="548640" y="45720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8E67729-D1D7-C868-40CD-5E8CC7FEF853}"/>
              </a:ext>
            </a:extLst>
          </p:cNvPr>
          <p:cNvSpPr/>
          <p:nvPr/>
        </p:nvSpPr>
        <p:spPr>
          <a:xfrm>
            <a:off x="548640" y="457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3-4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E71A5D6-EB06-13C1-0C55-1797B3377C97}"/>
              </a:ext>
            </a:extLst>
          </p:cNvPr>
          <p:cNvSpPr/>
          <p:nvPr/>
        </p:nvSpPr>
        <p:spPr>
          <a:xfrm>
            <a:off x="548640" y="8686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 생성 확인하기</a:t>
            </a:r>
            <a:endParaRPr lang="en-US" sz="25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8675C9F-D30B-FF85-8C8F-3C1C55EC8C42}"/>
              </a:ext>
            </a:extLst>
          </p:cNvPr>
          <p:cNvSpPr/>
          <p:nvPr/>
        </p:nvSpPr>
        <p:spPr>
          <a:xfrm>
            <a:off x="548640" y="1269271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 err="1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</a:t>
            </a:r>
            <a:r>
              <a:rPr lang="en-US" sz="12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3</a:t>
            </a:r>
            <a:r>
              <a:rPr lang="ko-KR" altLang="en-US" sz="12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개의 테이블이</a:t>
            </a:r>
            <a:r>
              <a:rPr lang="en-US" sz="12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dirty="0" err="1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t_member</a:t>
            </a:r>
            <a:r>
              <a:rPr lang="en-US" sz="12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t_product, </a:t>
            </a:r>
            <a:r>
              <a:rPr lang="en-US" sz="1250" dirty="0" err="1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t_purchase_history</a:t>
            </a:r>
            <a:r>
              <a:rPr lang="en-US" sz="12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생성되었는지 확인</a:t>
            </a:r>
            <a:endParaRPr lang="en-US" sz="12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568A741-5326-2E11-8329-B4B76F9FC76A}"/>
              </a:ext>
            </a:extLst>
          </p:cNvPr>
          <p:cNvSpPr/>
          <p:nvPr/>
        </p:nvSpPr>
        <p:spPr>
          <a:xfrm>
            <a:off x="548640" y="2456895"/>
            <a:ext cx="384048" cy="384048"/>
          </a:xfrm>
          <a:prstGeom prst="ellipse">
            <a:avLst/>
          </a:prstGeom>
          <a:solidFill>
            <a:srgbClr val="1E3A70"/>
          </a:solidFill>
          <a:ln/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050A48A-E5F0-3EA2-3507-5EF86724DB80}"/>
              </a:ext>
            </a:extLst>
          </p:cNvPr>
          <p:cNvSpPr/>
          <p:nvPr/>
        </p:nvSpPr>
        <p:spPr>
          <a:xfrm>
            <a:off x="548640" y="245689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433337D-ECA0-9241-3FA7-6CD583EEB04F}"/>
              </a:ext>
            </a:extLst>
          </p:cNvPr>
          <p:cNvSpPr/>
          <p:nvPr/>
        </p:nvSpPr>
        <p:spPr>
          <a:xfrm>
            <a:off x="1078992" y="2438607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Schemas </a:t>
            </a:r>
            <a:r>
              <a:rPr lang="ko-KR" alt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endParaRPr lang="en-US" sz="13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12C8758-DFFC-BABE-1F35-E4F60BEDBF79}"/>
              </a:ext>
            </a:extLst>
          </p:cNvPr>
          <p:cNvSpPr/>
          <p:nvPr/>
        </p:nvSpPr>
        <p:spPr>
          <a:xfrm>
            <a:off x="1078992" y="2722071"/>
            <a:ext cx="3675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08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</a:t>
            </a:r>
            <a:r>
              <a:rPr lang="en-US" sz="1080" dirty="0" err="1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</a:t>
            </a:r>
            <a:r>
              <a:rPr lang="en-US" sz="108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-learn Databases </a:t>
            </a:r>
            <a:r>
              <a:rPr lang="ko-KR" altLang="en-US" sz="108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</a:t>
            </a:r>
            <a:r>
              <a:rPr lang="en-US" altLang="ko-KR" sz="108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Schemas(1) </a:t>
            </a:r>
            <a:r>
              <a:rPr lang="ko-KR" altLang="en-US" sz="108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</a:t>
            </a:r>
            <a:r>
              <a:rPr lang="en-US" altLang="ko-KR" sz="108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Tables(3) </a:t>
            </a:r>
            <a:r>
              <a:rPr lang="ko-KR" altLang="en-US" sz="108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endParaRPr lang="en-US" sz="108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14A0BA0C-110C-C17E-8D6B-5EE3DEFDBDC2}"/>
              </a:ext>
            </a:extLst>
          </p:cNvPr>
          <p:cNvSpPr/>
          <p:nvPr/>
        </p:nvSpPr>
        <p:spPr>
          <a:xfrm>
            <a:off x="548640" y="3705984"/>
            <a:ext cx="384048" cy="384048"/>
          </a:xfrm>
          <a:prstGeom prst="ellipse">
            <a:avLst/>
          </a:prstGeom>
          <a:solidFill>
            <a:srgbClr val="1E3A70"/>
          </a:solidFill>
          <a:ln/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F415B86-4404-513A-A38B-CD630ADB0A4F}"/>
              </a:ext>
            </a:extLst>
          </p:cNvPr>
          <p:cNvSpPr/>
          <p:nvPr/>
        </p:nvSpPr>
        <p:spPr>
          <a:xfrm>
            <a:off x="548640" y="3705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F874757-CB0D-2137-6D95-72DE64DAD0A9}"/>
              </a:ext>
            </a:extLst>
          </p:cNvPr>
          <p:cNvSpPr/>
          <p:nvPr/>
        </p:nvSpPr>
        <p:spPr>
          <a:xfrm>
            <a:off x="1078992" y="3687696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Tables </a:t>
            </a:r>
            <a:r>
              <a:rPr lang="ko-KR" alt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13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0B4AE83-1B3B-049F-FB67-2C84F320DBB9}"/>
              </a:ext>
            </a:extLst>
          </p:cNvPr>
          <p:cNvSpPr/>
          <p:nvPr/>
        </p:nvSpPr>
        <p:spPr>
          <a:xfrm>
            <a:off x="1078992" y="3971160"/>
            <a:ext cx="3675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 err="1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T_member</a:t>
            </a:r>
            <a:r>
              <a:rPr lang="en-US" sz="108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080" dirty="0" err="1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t_product</a:t>
            </a:r>
            <a:r>
              <a:rPr lang="en-US" sz="108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080" dirty="0" err="1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t_purchase</a:t>
            </a:r>
            <a:r>
              <a:rPr lang="en-US" sz="108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history </a:t>
            </a:r>
            <a:r>
              <a:rPr lang="ko-KR" altLang="en-US" sz="108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확인</a:t>
            </a:r>
            <a:endParaRPr lang="en-US" sz="108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C5CA937D-3A86-A18F-5E88-BC489416A556}"/>
              </a:ext>
            </a:extLst>
          </p:cNvPr>
          <p:cNvSpPr/>
          <p:nvPr/>
        </p:nvSpPr>
        <p:spPr>
          <a:xfrm>
            <a:off x="5074920" y="1691640"/>
            <a:ext cx="653796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77800" dist="50800" dir="5400000" algn="bl" rotWithShape="0">
              <a:srgbClr val="0B1A3D">
                <a:alpha val="22000"/>
              </a:srgbClr>
            </a:outerShdw>
          </a:effectLst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97163979-9655-7EAA-59FA-F43AD9E80474}"/>
              </a:ext>
            </a:extLst>
          </p:cNvPr>
          <p:cNvSpPr/>
          <p:nvPr/>
        </p:nvSpPr>
        <p:spPr>
          <a:xfrm>
            <a:off x="5074920" y="1691640"/>
            <a:ext cx="6537960" cy="329184"/>
          </a:xfrm>
          <a:prstGeom prst="roundRect">
            <a:avLst>
              <a:gd name="adj" fmla="val 22222"/>
            </a:avLst>
          </a:prstGeom>
          <a:solidFill>
            <a:srgbClr val="0B1A3D"/>
          </a:solidFill>
          <a:ln/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66E42473-0624-7822-DCE7-17E0D8819475}"/>
              </a:ext>
            </a:extLst>
          </p:cNvPr>
          <p:cNvSpPr/>
          <p:nvPr/>
        </p:nvSpPr>
        <p:spPr>
          <a:xfrm>
            <a:off x="5074920" y="1947672"/>
            <a:ext cx="6537960" cy="73152"/>
          </a:xfrm>
          <a:prstGeom prst="rect">
            <a:avLst/>
          </a:prstGeom>
          <a:solidFill>
            <a:srgbClr val="0B1A3D"/>
          </a:solidFill>
          <a:ln/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603547B9-B15F-0AB1-F69C-B4F49FB54742}"/>
              </a:ext>
            </a:extLst>
          </p:cNvPr>
          <p:cNvSpPr/>
          <p:nvPr/>
        </p:nvSpPr>
        <p:spPr>
          <a:xfrm>
            <a:off x="5202936" y="1810512"/>
            <a:ext cx="91440" cy="9144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716D2F3F-0D97-A37A-B9C0-4EECECE59D0E}"/>
              </a:ext>
            </a:extLst>
          </p:cNvPr>
          <p:cNvSpPr/>
          <p:nvPr/>
        </p:nvSpPr>
        <p:spPr>
          <a:xfrm>
            <a:off x="5385816" y="1810512"/>
            <a:ext cx="91440" cy="91440"/>
          </a:xfrm>
          <a:prstGeom prst="ellipse">
            <a:avLst/>
          </a:prstGeom>
          <a:solidFill>
            <a:srgbClr val="E8B923"/>
          </a:solidFill>
          <a:ln/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FFA00C76-E1B9-CBAE-4691-C8E4F1E39C0A}"/>
              </a:ext>
            </a:extLst>
          </p:cNvPr>
          <p:cNvSpPr/>
          <p:nvPr/>
        </p:nvSpPr>
        <p:spPr>
          <a:xfrm>
            <a:off x="5568696" y="1810512"/>
            <a:ext cx="91440" cy="91440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EC344C9B-DFC6-624E-4B1D-203A8E46BF4A}"/>
              </a:ext>
            </a:extLst>
          </p:cNvPr>
          <p:cNvSpPr/>
          <p:nvPr/>
        </p:nvSpPr>
        <p:spPr>
          <a:xfrm>
            <a:off x="5715000" y="1691640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3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pgAdmin 4  —  sql-learn/postgres</a:t>
            </a:r>
            <a:endParaRPr lang="en-US" sz="1050" dirty="0"/>
          </a:p>
        </p:txBody>
      </p:sp>
      <p:sp>
        <p:nvSpPr>
          <p:cNvPr id="41" name="Text 37">
            <a:extLst>
              <a:ext uri="{FF2B5EF4-FFF2-40B4-BE49-F238E27FC236}">
                <a16:creationId xmlns:a16="http://schemas.microsoft.com/office/drawing/2014/main" id="{6DB8AD0E-8E22-DCDA-39F1-4E5E16D38046}"/>
              </a:ext>
            </a:extLst>
          </p:cNvPr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pgAdmin4 데이터 업로드 매뉴얼</a:t>
            </a:r>
            <a:endParaRPr lang="en-US" sz="900" dirty="0"/>
          </a:p>
        </p:txBody>
      </p:sp>
      <p:sp>
        <p:nvSpPr>
          <p:cNvPr id="42" name="Text 38">
            <a:extLst>
              <a:ext uri="{FF2B5EF4-FFF2-40B4-BE49-F238E27FC236}">
                <a16:creationId xmlns:a16="http://schemas.microsoft.com/office/drawing/2014/main" id="{25DA0AB5-8AEC-18EE-F01B-1A31A25A8126}"/>
              </a:ext>
            </a:extLst>
          </p:cNvPr>
          <p:cNvSpPr/>
          <p:nvPr/>
        </p:nvSpPr>
        <p:spPr>
          <a:xfrm>
            <a:off x="8503920" y="6547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sql-learn DB  |  7 / 18</a:t>
            </a:r>
            <a:endParaRPr lang="en-US" sz="9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52B2533-C530-258A-4967-312D3863A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108619"/>
            <a:ext cx="1864823" cy="4019868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4936107B-F8DE-9569-1A7F-FD12CEDEF67F}"/>
              </a:ext>
            </a:extLst>
          </p:cNvPr>
          <p:cNvSpPr/>
          <p:nvPr/>
        </p:nvSpPr>
        <p:spPr>
          <a:xfrm>
            <a:off x="6150488" y="3252074"/>
            <a:ext cx="825078" cy="1925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BFEF74C-BED9-6861-0065-3175AAA60071}"/>
              </a:ext>
            </a:extLst>
          </p:cNvPr>
          <p:cNvGrpSpPr/>
          <p:nvPr/>
        </p:nvGrpSpPr>
        <p:grpSpPr>
          <a:xfrm>
            <a:off x="6939366" y="3191256"/>
            <a:ext cx="384048" cy="384048"/>
            <a:chOff x="7447630" y="5367528"/>
            <a:chExt cx="384048" cy="384048"/>
          </a:xfrm>
        </p:grpSpPr>
        <p:sp>
          <p:nvSpPr>
            <p:cNvPr id="11" name="Shape 3">
              <a:extLst>
                <a:ext uri="{FF2B5EF4-FFF2-40B4-BE49-F238E27FC236}">
                  <a16:creationId xmlns:a16="http://schemas.microsoft.com/office/drawing/2014/main" id="{D6F50662-B938-8907-2EFC-12CE8E638FCF}"/>
                </a:ext>
              </a:extLst>
            </p:cNvPr>
            <p:cNvSpPr/>
            <p:nvPr/>
          </p:nvSpPr>
          <p:spPr>
            <a:xfrm>
              <a:off x="7506909" y="5437490"/>
              <a:ext cx="265491" cy="231790"/>
            </a:xfrm>
            <a:prstGeom prst="ellipse">
              <a:avLst/>
            </a:prstGeom>
            <a:solidFill>
              <a:srgbClr val="1E3A70"/>
            </a:solidFill>
            <a:ln/>
          </p:spPr>
        </p:sp>
        <p:sp>
          <p:nvSpPr>
            <p:cNvPr id="12" name="Text 4">
              <a:extLst>
                <a:ext uri="{FF2B5EF4-FFF2-40B4-BE49-F238E27FC236}">
                  <a16:creationId xmlns:a16="http://schemas.microsoft.com/office/drawing/2014/main" id="{21CE0D85-695F-E22A-0E52-FED463CD93C3}"/>
                </a:ext>
              </a:extLst>
            </p:cNvPr>
            <p:cNvSpPr/>
            <p:nvPr/>
          </p:nvSpPr>
          <p:spPr>
            <a:xfrm>
              <a:off x="7447630" y="5367528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</a:t>
              </a:r>
              <a:endParaRPr lang="en-US" sz="1400" dirty="0"/>
            </a:p>
          </p:txBody>
        </p:sp>
      </p:grp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F98C9DE-23D1-654A-E80D-63281C67ABB4}"/>
              </a:ext>
            </a:extLst>
          </p:cNvPr>
          <p:cNvSpPr/>
          <p:nvPr/>
        </p:nvSpPr>
        <p:spPr>
          <a:xfrm>
            <a:off x="6306311" y="5479570"/>
            <a:ext cx="1183059" cy="6808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DE0B8AB5-4538-4645-3541-0061DA22127F}"/>
              </a:ext>
            </a:extLst>
          </p:cNvPr>
          <p:cNvGrpSpPr/>
          <p:nvPr/>
        </p:nvGrpSpPr>
        <p:grpSpPr>
          <a:xfrm>
            <a:off x="7425362" y="5608113"/>
            <a:ext cx="384048" cy="384048"/>
            <a:chOff x="7447630" y="5367528"/>
            <a:chExt cx="384048" cy="384048"/>
          </a:xfrm>
        </p:grpSpPr>
        <p:sp>
          <p:nvSpPr>
            <p:cNvPr id="31" name="Shape 3">
              <a:extLst>
                <a:ext uri="{FF2B5EF4-FFF2-40B4-BE49-F238E27FC236}">
                  <a16:creationId xmlns:a16="http://schemas.microsoft.com/office/drawing/2014/main" id="{A90ADA5C-00D4-0F1F-BA70-EB2822E25BFD}"/>
                </a:ext>
              </a:extLst>
            </p:cNvPr>
            <p:cNvSpPr/>
            <p:nvPr/>
          </p:nvSpPr>
          <p:spPr>
            <a:xfrm>
              <a:off x="7506909" y="5437490"/>
              <a:ext cx="265491" cy="231790"/>
            </a:xfrm>
            <a:prstGeom prst="ellipse">
              <a:avLst/>
            </a:prstGeom>
            <a:solidFill>
              <a:srgbClr val="1E3A70"/>
            </a:solidFill>
            <a:ln/>
          </p:spPr>
        </p:sp>
        <p:sp>
          <p:nvSpPr>
            <p:cNvPr id="32" name="Text 4">
              <a:extLst>
                <a:ext uri="{FF2B5EF4-FFF2-40B4-BE49-F238E27FC236}">
                  <a16:creationId xmlns:a16="http://schemas.microsoft.com/office/drawing/2014/main" id="{7D3491E4-9CA4-523D-55F3-7D1E1546C5CF}"/>
                </a:ext>
              </a:extLst>
            </p:cNvPr>
            <p:cNvSpPr/>
            <p:nvPr/>
          </p:nvSpPr>
          <p:spPr>
            <a:xfrm>
              <a:off x="7447630" y="5367528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2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08809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업로드용 CSV 파일 준비 규칙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Import 전에 아래 5가지 규칙을 CSV 파일에 미리 적용해두면 오류 없이 한 번에 업로드할 수 있습니다.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FBFCFE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24028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AF1FC"/>
          </a:solidFill>
          <a:ln/>
          <a:effectLst>
            <a:outerShdw blurRad="127000" dist="38100" dir="5400000" algn="bl" rotWithShape="0">
              <a:srgbClr val="1E3A70">
                <a:alpha val="18000"/>
              </a:srgbClr>
            </a:outerShdw>
          </a:effectLst>
        </p:spPr>
      </p:sp>
      <p:pic>
        <p:nvPicPr>
          <p:cNvPr id="8" name="Image 0" descr="assets/icon_csv_2F6F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235915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1945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인코딩은 UTF-8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325880" y="2496312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한글이 포함되므로 파일 저장 시 인코딩을 반드시 UTF-8로 지정합니다. (엑셀은 'CSV UTF-8' 형식으로 저장)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80760" y="205740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FBFCFE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224028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AF1FC"/>
          </a:solidFill>
          <a:ln/>
          <a:effectLst>
            <a:outerShdw blurRad="127000" dist="38100" dir="5400000" algn="bl" rotWithShape="0">
              <a:srgbClr val="1E3A70">
                <a:alpha val="18000"/>
              </a:srgbClr>
            </a:outerShdw>
          </a:effectLst>
        </p:spPr>
      </p:sp>
      <p:pic>
        <p:nvPicPr>
          <p:cNvPr id="13" name="Image 1" descr="assets/icon_list_2F6F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235915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858000" y="21945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줄은 헤더(컬럼명)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858000" y="2496312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1행에 컬럼명을 테이블 정의 순서와 동일하게 입력합니다. Import 시 Header 옵션을 'Yes'로 설정합니다.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342900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FBFCFE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31520" y="361188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AF1FC"/>
          </a:solidFill>
          <a:ln/>
          <a:effectLst>
            <a:outerShdw blurRad="127000" dist="38100" dir="5400000" algn="bl" rotWithShape="0">
              <a:srgbClr val="1E3A70">
                <a:alpha val="18000"/>
              </a:srgbClr>
            </a:outerShdw>
          </a:effectLst>
        </p:spPr>
      </p:sp>
      <p:pic>
        <p:nvPicPr>
          <p:cNvPr id="18" name="Image 2" descr="assets/icon_key_2F6F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3730752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25880" y="35661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날짜는 문자열(YYYYMMDD)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325880" y="3867912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membership_date, birth_date, purchase_date는 모두 8자리 문자로 저장합니다. (예: 20260113)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080760" y="342900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FBFCFE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263640" y="361188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AF1FC"/>
          </a:solidFill>
          <a:ln/>
          <a:effectLst>
            <a:outerShdw blurRad="127000" dist="38100" dir="5400000" algn="bl" rotWithShape="0">
              <a:srgbClr val="1E3A70">
                <a:alpha val="18000"/>
              </a:srgbClr>
            </a:outerShdw>
          </a:effectLst>
        </p:spPr>
      </p:sp>
      <p:pic>
        <p:nvPicPr>
          <p:cNvPr id="23" name="Image 3" descr="assets/icon_check_2F6F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373075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858000" y="35661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코드값은 정의된 값만 사용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6858000" y="3867912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member_gender(M/F), user_yn(Y/N), sales_status(Y/N), payment_method(00/01/02) 값만 입력합니다.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548640" y="480060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FBFCFE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31520" y="498348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AF1FC"/>
          </a:solidFill>
          <a:ln/>
          <a:effectLst>
            <a:outerShdw blurRad="127000" dist="38100" dir="5400000" algn="bl" rotWithShape="0">
              <a:srgbClr val="1E3A70">
                <a:alpha val="18000"/>
              </a:srgbClr>
            </a:outerShdw>
          </a:effectLst>
        </p:spPr>
      </p:sp>
      <p:pic>
        <p:nvPicPr>
          <p:cNvPr id="28" name="Image 4" descr="assets/icon_table_2F6F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92" y="5102352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325880" y="49377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구분자는 쉼표(,)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1325880" y="5239512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필드 구분자는 콤마를 사용하고, 값에 콤마가 포함되면 큰따옴표(")로 묶어줍니다.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080760" y="480060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FBFCFE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263640" y="498348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AF1FC"/>
          </a:solidFill>
          <a:ln/>
          <a:effectLst>
            <a:outerShdw blurRad="127000" dist="38100" dir="5400000" algn="bl" rotWithShape="0">
              <a:srgbClr val="1E3A70">
                <a:alpha val="18000"/>
              </a:srgbClr>
            </a:outerShdw>
          </a:effectLst>
        </p:spPr>
      </p:sp>
      <p:pic>
        <p:nvPicPr>
          <p:cNvPr id="33" name="Image 5" descr="assets/icon_database_2F6F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2512" y="5102352"/>
            <a:ext cx="219456" cy="21945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858000" y="49377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값은 그대로 비워두기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6858000" y="5239512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member_email, birth_date, member_gender처럼 NULL 허용 컬럼은 값이 없으면 빈 칸으로 둡니다.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pgAdmin4 데이터 업로드 매뉴얼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8503920" y="6547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sql-learn DB  |  11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Import/Export Data 기능 사용법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1E3A7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8992" y="1673352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 우클릭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1956816"/>
            <a:ext cx="3675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sql-learn ▸ Schemas ▸ public ▸ Tables에서 업로드할 테이블을 우클릭합니다.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384048" cy="384048"/>
          </a:xfrm>
          <a:prstGeom prst="ellipse">
            <a:avLst/>
          </a:prstGeom>
          <a:solidFill>
            <a:srgbClr val="1E3A7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8992" y="2496312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Import/Export Data... 선택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78992" y="2779776"/>
            <a:ext cx="3675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메뉴에서 Import/Export Data...를 클릭하면 대화상자가 열립니다.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384048" cy="384048"/>
          </a:xfrm>
          <a:prstGeom prst="ellipse">
            <a:avLst/>
          </a:prstGeom>
          <a:solidFill>
            <a:srgbClr val="1E3A7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8992" y="3319272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General 탭 설정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78992" y="3602736"/>
            <a:ext cx="3675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우측 상단 스위치를 Import로 두고, Filename에 CSV 경로를, Format은 csv, Encoding은 UTF8로 지정합니다.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384048" cy="384048"/>
          </a:xfrm>
          <a:prstGeom prst="ellipse">
            <a:avLst/>
          </a:prstGeom>
          <a:solidFill>
            <a:srgbClr val="1E3A7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78992" y="4142232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Options 탭 설정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78992" y="4425696"/>
            <a:ext cx="3675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Header를 Yes로, Delimiter를 콤마(,)로 설정합니다.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548640" y="4983480"/>
            <a:ext cx="384048" cy="384048"/>
          </a:xfrm>
          <a:prstGeom prst="ellipse">
            <a:avLst/>
          </a:prstGeom>
          <a:solidFill>
            <a:srgbClr val="1E3A7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78992" y="4965192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Columns 탭 확인 후 실행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78992" y="5248656"/>
            <a:ext cx="3675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 컬럼 순서를 확인하고 OK를 누르면 업로드가 진행됩니다.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5074920" y="1691640"/>
            <a:ext cx="65379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77800" dist="50800" dir="5400000" algn="bl" rotWithShape="0">
              <a:srgbClr val="0B1A3D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74920" y="1691640"/>
            <a:ext cx="6537960" cy="329184"/>
          </a:xfrm>
          <a:prstGeom prst="roundRect">
            <a:avLst>
              <a:gd name="adj" fmla="val 22222"/>
            </a:avLst>
          </a:prstGeom>
          <a:solidFill>
            <a:srgbClr val="0B1A3D"/>
          </a:solidFill>
          <a:ln/>
        </p:spPr>
      </p:sp>
      <p:sp>
        <p:nvSpPr>
          <p:cNvPr id="27" name="Shape 25"/>
          <p:cNvSpPr/>
          <p:nvPr/>
        </p:nvSpPr>
        <p:spPr>
          <a:xfrm>
            <a:off x="5074920" y="1947672"/>
            <a:ext cx="6537960" cy="73152"/>
          </a:xfrm>
          <a:prstGeom prst="rect">
            <a:avLst/>
          </a:prstGeom>
          <a:solidFill>
            <a:srgbClr val="0B1A3D"/>
          </a:solidFill>
          <a:ln/>
        </p:spPr>
      </p:sp>
      <p:sp>
        <p:nvSpPr>
          <p:cNvPr id="28" name="Shape 26"/>
          <p:cNvSpPr/>
          <p:nvPr/>
        </p:nvSpPr>
        <p:spPr>
          <a:xfrm>
            <a:off x="5202936" y="1810512"/>
            <a:ext cx="91440" cy="9144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29" name="Shape 27"/>
          <p:cNvSpPr/>
          <p:nvPr/>
        </p:nvSpPr>
        <p:spPr>
          <a:xfrm>
            <a:off x="5385816" y="1810512"/>
            <a:ext cx="91440" cy="91440"/>
          </a:xfrm>
          <a:prstGeom prst="ellipse">
            <a:avLst/>
          </a:prstGeom>
          <a:solidFill>
            <a:srgbClr val="E8B923"/>
          </a:solidFill>
          <a:ln/>
        </p:spPr>
      </p:sp>
      <p:sp>
        <p:nvSpPr>
          <p:cNvPr id="30" name="Shape 28"/>
          <p:cNvSpPr/>
          <p:nvPr/>
        </p:nvSpPr>
        <p:spPr>
          <a:xfrm>
            <a:off x="5568696" y="1810512"/>
            <a:ext cx="91440" cy="91440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31" name="Text 29"/>
          <p:cNvSpPr/>
          <p:nvPr/>
        </p:nvSpPr>
        <p:spPr>
          <a:xfrm>
            <a:off x="5715000" y="1691640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3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Import/Export Data — t_member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692640" y="215798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</p:sp>
      <p:sp>
        <p:nvSpPr>
          <p:cNvPr id="33" name="Text 31"/>
          <p:cNvSpPr/>
          <p:nvPr/>
        </p:nvSpPr>
        <p:spPr>
          <a:xfrm>
            <a:off x="9692640" y="21579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Import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698480" y="215798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/>
        </p:spPr>
      </p:sp>
      <p:sp>
        <p:nvSpPr>
          <p:cNvPr id="35" name="Text 33"/>
          <p:cNvSpPr/>
          <p:nvPr/>
        </p:nvSpPr>
        <p:spPr>
          <a:xfrm>
            <a:off x="10698480" y="21579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Export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212080" y="252374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5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General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63640" y="252374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Options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63640" y="2798064"/>
            <a:ext cx="1005840" cy="0"/>
          </a:xfrm>
          <a:prstGeom prst="line">
            <a:avLst/>
          </a:prstGeom>
          <a:noFill/>
          <a:ln w="25400">
            <a:solidFill>
              <a:srgbClr val="2F6F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0" y="252374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5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Columns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303520" y="298094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675120" y="2980944"/>
            <a:ext cx="4709160" cy="310896"/>
          </a:xfrm>
          <a:prstGeom prst="roundRect">
            <a:avLst>
              <a:gd name="adj" fmla="val 11765"/>
            </a:avLst>
          </a:prstGeom>
          <a:solidFill>
            <a:srgbClr val="FBFCFE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6560" y="2980944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303520" y="336499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Delimiter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675120" y="3364992"/>
            <a:ext cx="4709160" cy="310896"/>
          </a:xfrm>
          <a:prstGeom prst="roundRect">
            <a:avLst>
              <a:gd name="adj" fmla="val 11765"/>
            </a:avLst>
          </a:prstGeom>
          <a:solidFill>
            <a:srgbClr val="FBFCFE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66560" y="3364992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303520" y="37490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Quote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675120" y="3749040"/>
            <a:ext cx="4709160" cy="310896"/>
          </a:xfrm>
          <a:prstGeom prst="roundRect">
            <a:avLst>
              <a:gd name="adj" fmla="val 11765"/>
            </a:avLst>
          </a:prstGeom>
          <a:solidFill>
            <a:srgbClr val="FBFCFE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66560" y="374904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303520" y="41330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Escape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675120" y="4133088"/>
            <a:ext cx="4709160" cy="310896"/>
          </a:xfrm>
          <a:prstGeom prst="roundRect">
            <a:avLst>
              <a:gd name="adj" fmla="val 11765"/>
            </a:avLst>
          </a:prstGeom>
          <a:solidFill>
            <a:srgbClr val="FBFCFE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66560" y="4133088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303520" y="451713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NULL string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675120" y="4517136"/>
            <a:ext cx="4709160" cy="310896"/>
          </a:xfrm>
          <a:prstGeom prst="roundRect">
            <a:avLst>
              <a:gd name="adj" fmla="val 11765"/>
            </a:avLst>
          </a:prstGeom>
          <a:solidFill>
            <a:srgbClr val="FBFCFE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66560" y="4517136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5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(비워둠)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9875520" y="5943600"/>
            <a:ext cx="7315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875520" y="59436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Cancel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10698480" y="5943600"/>
            <a:ext cx="731520" cy="292608"/>
          </a:xfrm>
          <a:prstGeom prst="roundRect">
            <a:avLst>
              <a:gd name="adj" fmla="val 18750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698480" y="59436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OK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pgAdmin4 데이터 업로드 매뉴얼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503920" y="6547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sql-learn DB  |  12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5-1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t_member 데이터 Import 하기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4206240" cy="2880360"/>
          </a:xfrm>
          <a:prstGeom prst="roundRect">
            <a:avLst>
              <a:gd name="adj" fmla="val 3175"/>
            </a:avLst>
          </a:prstGeom>
          <a:solidFill>
            <a:srgbClr val="FBFCFE"/>
          </a:solidFill>
          <a:ln w="12700">
            <a:solidFill>
              <a:srgbClr val="DCE4F0"/>
            </a:solidFill>
            <a:prstDash val="solid"/>
          </a:ln>
          <a:effectLst>
            <a:outerShdw blurRad="127000" dist="38100" dir="5400000" algn="bl" rotWithShape="0">
              <a:srgbClr val="1E3A7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764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 컬럼 순서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13055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1305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member_id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17520" y="213055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회원ID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239115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23911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member_name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17520" y="23911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회원명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77240" y="265176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26517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17520" y="26517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77240" y="291236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29123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member_email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17520" y="291236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77240" y="317296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97280" y="31729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membership_date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017520" y="317296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가입일(8자리)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77240" y="343357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97280" y="34335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membership_level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017520" y="343357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등급(2자리)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77240" y="36941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97280" y="36941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birth_date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017520" y="36941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생년월일(8자리)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77240" y="395478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97280" y="39547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member_gender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017520" y="395478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성별 M/F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77240" y="421538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97280" y="42153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user_yn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017520" y="421538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사용여부 Y/N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4663440"/>
            <a:ext cx="4206240" cy="1691640"/>
          </a:xfrm>
          <a:prstGeom prst="roundRect">
            <a:avLst>
              <a:gd name="adj" fmla="val 4324"/>
            </a:avLst>
          </a:prstGeom>
          <a:solidFill>
            <a:srgbClr val="FFF6DF"/>
          </a:solidFill>
          <a:ln w="12700">
            <a:solidFill>
              <a:srgbClr val="F0DFA0"/>
            </a:solidFill>
            <a:prstDash val="solid"/>
          </a:ln>
        </p:spPr>
      </p:sp>
      <p:pic>
        <p:nvPicPr>
          <p:cNvPr id="35" name="Image 0" descr="assets/icon_warning_E8B9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828032"/>
            <a:ext cx="274320" cy="27432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143000" y="47731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6D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확인하세요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1143000" y="5047488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먼저 업로드해야 하는 테이블입니다. member_id 값에 중복이 있으면 기본키(PRIMARY KEY) 제약조건 위반 오류가 발생하니 CSV 내 중복 여부를 먼저 확인하세요.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4892040" y="1600200"/>
            <a:ext cx="672084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77800" dist="50800" dir="5400000" algn="bl" rotWithShape="0">
              <a:srgbClr val="0B1A3D">
                <a:alpha val="22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4892040" y="1600200"/>
            <a:ext cx="6720840" cy="329184"/>
          </a:xfrm>
          <a:prstGeom prst="roundRect">
            <a:avLst>
              <a:gd name="adj" fmla="val 22222"/>
            </a:avLst>
          </a:prstGeom>
          <a:solidFill>
            <a:srgbClr val="0B1A3D"/>
          </a:solidFill>
          <a:ln/>
        </p:spPr>
      </p:sp>
      <p:sp>
        <p:nvSpPr>
          <p:cNvPr id="40" name="Shape 37"/>
          <p:cNvSpPr/>
          <p:nvPr/>
        </p:nvSpPr>
        <p:spPr>
          <a:xfrm>
            <a:off x="4892040" y="1856232"/>
            <a:ext cx="6720840" cy="73152"/>
          </a:xfrm>
          <a:prstGeom prst="rect">
            <a:avLst/>
          </a:prstGeom>
          <a:solidFill>
            <a:srgbClr val="0B1A3D"/>
          </a:solidFill>
          <a:ln/>
        </p:spPr>
      </p:sp>
      <p:sp>
        <p:nvSpPr>
          <p:cNvPr id="41" name="Shape 38"/>
          <p:cNvSpPr/>
          <p:nvPr/>
        </p:nvSpPr>
        <p:spPr>
          <a:xfrm>
            <a:off x="5020056" y="1719072"/>
            <a:ext cx="91440" cy="9144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42" name="Shape 39"/>
          <p:cNvSpPr/>
          <p:nvPr/>
        </p:nvSpPr>
        <p:spPr>
          <a:xfrm>
            <a:off x="5202936" y="1719072"/>
            <a:ext cx="91440" cy="91440"/>
          </a:xfrm>
          <a:prstGeom prst="ellipse">
            <a:avLst/>
          </a:prstGeom>
          <a:solidFill>
            <a:srgbClr val="E8B923"/>
          </a:solidFill>
          <a:ln/>
        </p:spPr>
      </p:sp>
      <p:sp>
        <p:nvSpPr>
          <p:cNvPr id="43" name="Shape 40"/>
          <p:cNvSpPr/>
          <p:nvPr/>
        </p:nvSpPr>
        <p:spPr>
          <a:xfrm>
            <a:off x="5385816" y="1719072"/>
            <a:ext cx="91440" cy="91440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44" name="Text 41"/>
          <p:cNvSpPr/>
          <p:nvPr/>
        </p:nvSpPr>
        <p:spPr>
          <a:xfrm>
            <a:off x="5532120" y="1600200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3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Import/Export Data — t_member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5074920" y="21579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General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5120640" y="254203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Filename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6309360" y="2542032"/>
            <a:ext cx="5074920" cy="310896"/>
          </a:xfrm>
          <a:prstGeom prst="roundRect">
            <a:avLst>
              <a:gd name="adj" fmla="val 11765"/>
            </a:avLst>
          </a:prstGeom>
          <a:solidFill>
            <a:srgbClr val="FBFCFE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400800" y="2542032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member_data.csv</a:t>
            </a:r>
            <a:endParaRPr lang="en-US" sz="1050" dirty="0"/>
          </a:p>
        </p:txBody>
      </p:sp>
      <p:sp>
        <p:nvSpPr>
          <p:cNvPr id="49" name="Text 46"/>
          <p:cNvSpPr/>
          <p:nvPr/>
        </p:nvSpPr>
        <p:spPr>
          <a:xfrm>
            <a:off x="5120640" y="29443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Format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6309360" y="2944368"/>
            <a:ext cx="5074920" cy="310896"/>
          </a:xfrm>
          <a:prstGeom prst="roundRect">
            <a:avLst>
              <a:gd name="adj" fmla="val 11765"/>
            </a:avLst>
          </a:prstGeom>
          <a:solidFill>
            <a:srgbClr val="FBFCFE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400800" y="294436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5120640" y="334670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Encoding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6309360" y="3346704"/>
            <a:ext cx="5074920" cy="310896"/>
          </a:xfrm>
          <a:prstGeom prst="roundRect">
            <a:avLst>
              <a:gd name="adj" fmla="val 11765"/>
            </a:avLst>
          </a:prstGeom>
          <a:solidFill>
            <a:srgbClr val="FBFCFE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400800" y="334670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UTF8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5074920" y="3895344"/>
            <a:ext cx="6355080" cy="0"/>
          </a:xfrm>
          <a:prstGeom prst="line">
            <a:avLst/>
          </a:prstGeom>
          <a:noFill/>
          <a:ln w="12700">
            <a:solidFill>
              <a:srgbClr val="DCE4F0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074920" y="40325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</a:t>
            </a:r>
            <a:endParaRPr lang="en-US" sz="1100" dirty="0"/>
          </a:p>
        </p:txBody>
      </p:sp>
      <p:sp>
        <p:nvSpPr>
          <p:cNvPr id="57" name="Text 54"/>
          <p:cNvSpPr/>
          <p:nvPr/>
        </p:nvSpPr>
        <p:spPr>
          <a:xfrm>
            <a:off x="5120640" y="439826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테이블</a:t>
            </a:r>
            <a:endParaRPr lang="en-US" sz="1050" dirty="0"/>
          </a:p>
        </p:txBody>
      </p:sp>
      <p:sp>
        <p:nvSpPr>
          <p:cNvPr id="58" name="Shape 55"/>
          <p:cNvSpPr/>
          <p:nvPr/>
        </p:nvSpPr>
        <p:spPr>
          <a:xfrm>
            <a:off x="6309360" y="4398264"/>
            <a:ext cx="5074920" cy="310896"/>
          </a:xfrm>
          <a:prstGeom prst="roundRect">
            <a:avLst>
              <a:gd name="adj" fmla="val 11765"/>
            </a:avLst>
          </a:prstGeom>
          <a:solidFill>
            <a:srgbClr val="FBFCFE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400800" y="439826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t_member</a:t>
            </a:r>
            <a:endParaRPr lang="en-US" sz="1050" dirty="0"/>
          </a:p>
        </p:txBody>
      </p:sp>
      <p:pic>
        <p:nvPicPr>
          <p:cNvPr id="60" name="Image 1" descr="assets/icon_upload_2F6F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9420" y="4901184"/>
            <a:ext cx="365760" cy="365760"/>
          </a:xfrm>
          <a:prstGeom prst="rect">
            <a:avLst/>
          </a:prstGeom>
        </p:spPr>
      </p:pic>
      <p:sp>
        <p:nvSpPr>
          <p:cNvPr id="61" name="Text 57"/>
          <p:cNvSpPr/>
          <p:nvPr/>
        </p:nvSpPr>
        <p:spPr>
          <a:xfrm>
            <a:off x="7246620" y="48554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9D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imported successfully</a:t>
            </a:r>
            <a:endParaRPr lang="en-US" sz="1050" dirty="0"/>
          </a:p>
        </p:txBody>
      </p:sp>
      <p:sp>
        <p:nvSpPr>
          <p:cNvPr id="62" name="Shape 58"/>
          <p:cNvSpPr/>
          <p:nvPr/>
        </p:nvSpPr>
        <p:spPr>
          <a:xfrm>
            <a:off x="9875520" y="5897880"/>
            <a:ext cx="7315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9875520" y="58978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Cancel</a:t>
            </a:r>
            <a:endParaRPr lang="en-US" sz="1050" dirty="0"/>
          </a:p>
        </p:txBody>
      </p:sp>
      <p:sp>
        <p:nvSpPr>
          <p:cNvPr id="64" name="Shape 60"/>
          <p:cNvSpPr/>
          <p:nvPr/>
        </p:nvSpPr>
        <p:spPr>
          <a:xfrm>
            <a:off x="10698480" y="5897880"/>
            <a:ext cx="731520" cy="292608"/>
          </a:xfrm>
          <a:prstGeom prst="roundRect">
            <a:avLst>
              <a:gd name="adj" fmla="val 18750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10698480" y="58978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OK</a:t>
            </a:r>
            <a:endParaRPr lang="en-US" sz="1050" dirty="0"/>
          </a:p>
        </p:txBody>
      </p:sp>
      <p:sp>
        <p:nvSpPr>
          <p:cNvPr id="66" name="Text 62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5-1 · 데이터 Import</a:t>
            </a:r>
            <a:endParaRPr lang="en-US" sz="900" dirty="0"/>
          </a:p>
        </p:txBody>
      </p:sp>
      <p:sp>
        <p:nvSpPr>
          <p:cNvPr id="67" name="Text 63"/>
          <p:cNvSpPr/>
          <p:nvPr/>
        </p:nvSpPr>
        <p:spPr>
          <a:xfrm>
            <a:off x="8503920" y="6547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sql-learn DB  |  13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5-2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t_product 데이터 Import 하기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4206240" cy="2880360"/>
          </a:xfrm>
          <a:prstGeom prst="roundRect">
            <a:avLst>
              <a:gd name="adj" fmla="val 3175"/>
            </a:avLst>
          </a:prstGeom>
          <a:solidFill>
            <a:srgbClr val="FBFCFE"/>
          </a:solidFill>
          <a:ln w="12700">
            <a:solidFill>
              <a:srgbClr val="DCE4F0"/>
            </a:solidFill>
            <a:prstDash val="solid"/>
          </a:ln>
          <a:effectLst>
            <a:outerShdw blurRad="127000" dist="38100" dir="5400000" algn="bl" rotWithShape="0">
              <a:srgbClr val="1E3A7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764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 컬럼 순서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13055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1305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product_id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17520" y="213055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상품ID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239115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23911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product_name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17520" y="23911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상품명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77240" y="265176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26517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product_price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17520" y="26517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가격(정수8+소수2)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77240" y="291236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29123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sales_status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17520" y="291236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판매여부 Y/N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4206240" cy="1691640"/>
          </a:xfrm>
          <a:prstGeom prst="roundRect">
            <a:avLst>
              <a:gd name="adj" fmla="val 4324"/>
            </a:avLst>
          </a:prstGeom>
          <a:solidFill>
            <a:srgbClr val="FFF6DF"/>
          </a:solidFill>
          <a:ln w="12700">
            <a:solidFill>
              <a:srgbClr val="F0DFA0"/>
            </a:solidFill>
            <a:prstDash val="solid"/>
          </a:ln>
        </p:spPr>
      </p:sp>
      <p:pic>
        <p:nvPicPr>
          <p:cNvPr id="20" name="Image 0" descr="assets/icon_warning_E8B9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828032"/>
            <a:ext cx="274320" cy="2743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43000" y="47731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6D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확인하세요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143000" y="5047488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product_price는 숫자(NUMERIC) 컬럼이므로 CSV에 콤마(,)나 원화 기호(₩) 없이 순수 숫자만 입력합니다. 예: 15000.00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892040" y="1600200"/>
            <a:ext cx="672084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77800" dist="50800" dir="5400000" algn="bl" rotWithShape="0">
              <a:srgbClr val="0B1A3D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892040" y="1600200"/>
            <a:ext cx="6720840" cy="329184"/>
          </a:xfrm>
          <a:prstGeom prst="roundRect">
            <a:avLst>
              <a:gd name="adj" fmla="val 22222"/>
            </a:avLst>
          </a:prstGeom>
          <a:solidFill>
            <a:srgbClr val="0B1A3D"/>
          </a:solidFill>
          <a:ln/>
        </p:spPr>
      </p:sp>
      <p:sp>
        <p:nvSpPr>
          <p:cNvPr id="25" name="Shape 22"/>
          <p:cNvSpPr/>
          <p:nvPr/>
        </p:nvSpPr>
        <p:spPr>
          <a:xfrm>
            <a:off x="4892040" y="1856232"/>
            <a:ext cx="6720840" cy="73152"/>
          </a:xfrm>
          <a:prstGeom prst="rect">
            <a:avLst/>
          </a:prstGeom>
          <a:solidFill>
            <a:srgbClr val="0B1A3D"/>
          </a:solidFill>
          <a:ln/>
        </p:spPr>
      </p:sp>
      <p:sp>
        <p:nvSpPr>
          <p:cNvPr id="26" name="Shape 23"/>
          <p:cNvSpPr/>
          <p:nvPr/>
        </p:nvSpPr>
        <p:spPr>
          <a:xfrm>
            <a:off x="5020056" y="1719072"/>
            <a:ext cx="91440" cy="9144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27" name="Shape 24"/>
          <p:cNvSpPr/>
          <p:nvPr/>
        </p:nvSpPr>
        <p:spPr>
          <a:xfrm>
            <a:off x="5202936" y="1719072"/>
            <a:ext cx="91440" cy="91440"/>
          </a:xfrm>
          <a:prstGeom prst="ellipse">
            <a:avLst/>
          </a:prstGeom>
          <a:solidFill>
            <a:srgbClr val="E8B923"/>
          </a:solidFill>
          <a:ln/>
        </p:spPr>
      </p:sp>
      <p:sp>
        <p:nvSpPr>
          <p:cNvPr id="28" name="Shape 25"/>
          <p:cNvSpPr/>
          <p:nvPr/>
        </p:nvSpPr>
        <p:spPr>
          <a:xfrm>
            <a:off x="5385816" y="1719072"/>
            <a:ext cx="91440" cy="91440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29" name="Text 26"/>
          <p:cNvSpPr/>
          <p:nvPr/>
        </p:nvSpPr>
        <p:spPr>
          <a:xfrm>
            <a:off x="5532120" y="1600200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3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Import/Export Data — t_product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074920" y="21579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General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120640" y="254203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Filename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6309360" y="2542032"/>
            <a:ext cx="5074920" cy="310896"/>
          </a:xfrm>
          <a:prstGeom prst="roundRect">
            <a:avLst>
              <a:gd name="adj" fmla="val 11765"/>
            </a:avLst>
          </a:prstGeom>
          <a:solidFill>
            <a:srgbClr val="FBFCFE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00800" y="2542032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product_data.csv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5120640" y="29443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Format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6309360" y="2944368"/>
            <a:ext cx="5074920" cy="310896"/>
          </a:xfrm>
          <a:prstGeom prst="roundRect">
            <a:avLst>
              <a:gd name="adj" fmla="val 11765"/>
            </a:avLst>
          </a:prstGeom>
          <a:solidFill>
            <a:srgbClr val="FBFCFE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400800" y="294436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5120640" y="334670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Encoding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6309360" y="3346704"/>
            <a:ext cx="5074920" cy="310896"/>
          </a:xfrm>
          <a:prstGeom prst="roundRect">
            <a:avLst>
              <a:gd name="adj" fmla="val 11765"/>
            </a:avLst>
          </a:prstGeom>
          <a:solidFill>
            <a:srgbClr val="FBFCFE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00800" y="334670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UTF8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5074920" y="3895344"/>
            <a:ext cx="6355080" cy="0"/>
          </a:xfrm>
          <a:prstGeom prst="line">
            <a:avLst/>
          </a:prstGeom>
          <a:noFill/>
          <a:ln w="12700">
            <a:solidFill>
              <a:srgbClr val="DCE4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074920" y="40325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5120640" y="439826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테이블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6309360" y="4398264"/>
            <a:ext cx="5074920" cy="310896"/>
          </a:xfrm>
          <a:prstGeom prst="roundRect">
            <a:avLst>
              <a:gd name="adj" fmla="val 11765"/>
            </a:avLst>
          </a:prstGeom>
          <a:solidFill>
            <a:srgbClr val="FBFCFE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400800" y="439826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t_product</a:t>
            </a:r>
            <a:endParaRPr lang="en-US" sz="1050" dirty="0"/>
          </a:p>
        </p:txBody>
      </p:sp>
      <p:pic>
        <p:nvPicPr>
          <p:cNvPr id="45" name="Image 1" descr="assets/icon_upload_2F6F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9420" y="4901184"/>
            <a:ext cx="365760" cy="365760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7246620" y="48554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9D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imported successfully</a:t>
            </a:r>
            <a:endParaRPr lang="en-US" sz="1050" dirty="0"/>
          </a:p>
        </p:txBody>
      </p:sp>
      <p:sp>
        <p:nvSpPr>
          <p:cNvPr id="47" name="Shape 43"/>
          <p:cNvSpPr/>
          <p:nvPr/>
        </p:nvSpPr>
        <p:spPr>
          <a:xfrm>
            <a:off x="9875520" y="5897880"/>
            <a:ext cx="7315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9875520" y="58978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Cancel</a:t>
            </a:r>
            <a:endParaRPr lang="en-US" sz="1050" dirty="0"/>
          </a:p>
        </p:txBody>
      </p:sp>
      <p:sp>
        <p:nvSpPr>
          <p:cNvPr id="49" name="Shape 45"/>
          <p:cNvSpPr/>
          <p:nvPr/>
        </p:nvSpPr>
        <p:spPr>
          <a:xfrm>
            <a:off x="10698480" y="5897880"/>
            <a:ext cx="731520" cy="292608"/>
          </a:xfrm>
          <a:prstGeom prst="roundRect">
            <a:avLst>
              <a:gd name="adj" fmla="val 18750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10698480" y="58978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OK</a:t>
            </a:r>
            <a:endParaRPr lang="en-US" sz="1050" dirty="0"/>
          </a:p>
        </p:txBody>
      </p:sp>
      <p:sp>
        <p:nvSpPr>
          <p:cNvPr id="51" name="Text 47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5-2 · 데이터 Import</a:t>
            </a:r>
            <a:endParaRPr lang="en-US" sz="900" dirty="0"/>
          </a:p>
        </p:txBody>
      </p:sp>
      <p:sp>
        <p:nvSpPr>
          <p:cNvPr id="52" name="Text 48"/>
          <p:cNvSpPr/>
          <p:nvPr/>
        </p:nvSpPr>
        <p:spPr>
          <a:xfrm>
            <a:off x="8503920" y="6547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sql-learn DB  |  14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5-3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t_purchase_history 데이터 Import 하기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4206240" cy="2880360"/>
          </a:xfrm>
          <a:prstGeom prst="roundRect">
            <a:avLst>
              <a:gd name="adj" fmla="val 3175"/>
            </a:avLst>
          </a:prstGeom>
          <a:solidFill>
            <a:srgbClr val="FBFCFE"/>
          </a:solidFill>
          <a:ln w="12700">
            <a:solidFill>
              <a:srgbClr val="DCE4F0"/>
            </a:solidFill>
            <a:prstDash val="solid"/>
          </a:ln>
          <a:effectLst>
            <a:outerShdw blurRad="127000" dist="38100" dir="5400000" algn="bl" rotWithShape="0">
              <a:srgbClr val="1E3A7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764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 컬럼 순서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13055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1305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sales_id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17520" y="213055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판매번호(13자리)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239115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23911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member_id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17520" y="23911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회원ID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77240" y="265176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26517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product_id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17520" y="26517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상품ID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77240" y="291236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29123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purchase_date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17520" y="291236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구매일자(8자리)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77240" y="317296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97280" y="31729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payment_method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017520" y="317296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결제방식 00/01/02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4663440"/>
            <a:ext cx="4206240" cy="1691640"/>
          </a:xfrm>
          <a:prstGeom prst="roundRect">
            <a:avLst>
              <a:gd name="adj" fmla="val 4324"/>
            </a:avLst>
          </a:prstGeom>
          <a:solidFill>
            <a:srgbClr val="FDECEC"/>
          </a:solidFill>
          <a:ln w="12700">
            <a:solidFill>
              <a:srgbClr val="F3C9C9"/>
            </a:solidFill>
            <a:prstDash val="solid"/>
          </a:ln>
        </p:spPr>
      </p:sp>
      <p:pic>
        <p:nvPicPr>
          <p:cNvPr id="23" name="Image 0" descr="assets/icon_warning_D645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828032"/>
            <a:ext cx="274320" cy="2743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43000" y="47731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E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순서로 진행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143000" y="5047488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t_member, t_product 데이터가 먼저 업로드되어 있어야 합니다. member_id·product_id 값이 두 테이블에 실제로 존재하는 값인지 CSV 작성 시 미리 확인하세요.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892040" y="1600200"/>
            <a:ext cx="672084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77800" dist="50800" dir="5400000" algn="bl" rotWithShape="0">
              <a:srgbClr val="0B1A3D">
                <a:alpha val="2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892040" y="1600200"/>
            <a:ext cx="6720840" cy="329184"/>
          </a:xfrm>
          <a:prstGeom prst="roundRect">
            <a:avLst>
              <a:gd name="adj" fmla="val 22222"/>
            </a:avLst>
          </a:prstGeom>
          <a:solidFill>
            <a:srgbClr val="0B1A3D"/>
          </a:solidFill>
          <a:ln/>
        </p:spPr>
      </p:sp>
      <p:sp>
        <p:nvSpPr>
          <p:cNvPr id="28" name="Shape 25"/>
          <p:cNvSpPr/>
          <p:nvPr/>
        </p:nvSpPr>
        <p:spPr>
          <a:xfrm>
            <a:off x="4892040" y="1856232"/>
            <a:ext cx="6720840" cy="73152"/>
          </a:xfrm>
          <a:prstGeom prst="rect">
            <a:avLst/>
          </a:prstGeom>
          <a:solidFill>
            <a:srgbClr val="0B1A3D"/>
          </a:solidFill>
          <a:ln/>
        </p:spPr>
      </p:sp>
      <p:sp>
        <p:nvSpPr>
          <p:cNvPr id="29" name="Shape 26"/>
          <p:cNvSpPr/>
          <p:nvPr/>
        </p:nvSpPr>
        <p:spPr>
          <a:xfrm>
            <a:off x="5020056" y="1719072"/>
            <a:ext cx="91440" cy="9144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30" name="Shape 27"/>
          <p:cNvSpPr/>
          <p:nvPr/>
        </p:nvSpPr>
        <p:spPr>
          <a:xfrm>
            <a:off x="5202936" y="1719072"/>
            <a:ext cx="91440" cy="91440"/>
          </a:xfrm>
          <a:prstGeom prst="ellipse">
            <a:avLst/>
          </a:prstGeom>
          <a:solidFill>
            <a:srgbClr val="E8B923"/>
          </a:solidFill>
          <a:ln/>
        </p:spPr>
      </p:sp>
      <p:sp>
        <p:nvSpPr>
          <p:cNvPr id="31" name="Shape 28"/>
          <p:cNvSpPr/>
          <p:nvPr/>
        </p:nvSpPr>
        <p:spPr>
          <a:xfrm>
            <a:off x="5385816" y="1719072"/>
            <a:ext cx="91440" cy="91440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32" name="Text 29"/>
          <p:cNvSpPr/>
          <p:nvPr/>
        </p:nvSpPr>
        <p:spPr>
          <a:xfrm>
            <a:off x="5532120" y="1600200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3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Import/Export Data — t_purchase_history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5074920" y="21579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General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120640" y="254203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Filename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6309360" y="2542032"/>
            <a:ext cx="5074920" cy="310896"/>
          </a:xfrm>
          <a:prstGeom prst="roundRect">
            <a:avLst>
              <a:gd name="adj" fmla="val 11765"/>
            </a:avLst>
          </a:prstGeom>
          <a:solidFill>
            <a:srgbClr val="FBFCFE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400800" y="2542032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purchase_history_data.csv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5120640" y="29443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Format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6309360" y="2944368"/>
            <a:ext cx="5074920" cy="310896"/>
          </a:xfrm>
          <a:prstGeom prst="roundRect">
            <a:avLst>
              <a:gd name="adj" fmla="val 11765"/>
            </a:avLst>
          </a:prstGeom>
          <a:solidFill>
            <a:srgbClr val="FBFCFE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00800" y="294436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5120640" y="334670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Encoding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6309360" y="3346704"/>
            <a:ext cx="5074920" cy="310896"/>
          </a:xfrm>
          <a:prstGeom prst="roundRect">
            <a:avLst>
              <a:gd name="adj" fmla="val 11765"/>
            </a:avLst>
          </a:prstGeom>
          <a:solidFill>
            <a:srgbClr val="FBFCFE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400800" y="334670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UTF8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5074920" y="3895344"/>
            <a:ext cx="6355080" cy="0"/>
          </a:xfrm>
          <a:prstGeom prst="line">
            <a:avLst/>
          </a:prstGeom>
          <a:noFill/>
          <a:ln w="12700">
            <a:solidFill>
              <a:srgbClr val="DCE4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074920" y="40325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5120640" y="439826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테이블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6309360" y="4398264"/>
            <a:ext cx="5074920" cy="310896"/>
          </a:xfrm>
          <a:prstGeom prst="roundRect">
            <a:avLst>
              <a:gd name="adj" fmla="val 11765"/>
            </a:avLst>
          </a:prstGeom>
          <a:solidFill>
            <a:srgbClr val="FBFCFE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400800" y="439826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t_purchase_history</a:t>
            </a:r>
            <a:endParaRPr lang="en-US" sz="1050" dirty="0"/>
          </a:p>
        </p:txBody>
      </p:sp>
      <p:pic>
        <p:nvPicPr>
          <p:cNvPr id="48" name="Image 1" descr="assets/icon_upload_2F6F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9420" y="4901184"/>
            <a:ext cx="365760" cy="365760"/>
          </a:xfrm>
          <a:prstGeom prst="rect">
            <a:avLst/>
          </a:prstGeom>
        </p:spPr>
      </p:pic>
      <p:sp>
        <p:nvSpPr>
          <p:cNvPr id="49" name="Text 45"/>
          <p:cNvSpPr/>
          <p:nvPr/>
        </p:nvSpPr>
        <p:spPr>
          <a:xfrm>
            <a:off x="7246620" y="48554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9D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imported successfully</a:t>
            </a:r>
            <a:endParaRPr lang="en-US" sz="1050" dirty="0"/>
          </a:p>
        </p:txBody>
      </p:sp>
      <p:sp>
        <p:nvSpPr>
          <p:cNvPr id="50" name="Shape 46"/>
          <p:cNvSpPr/>
          <p:nvPr/>
        </p:nvSpPr>
        <p:spPr>
          <a:xfrm>
            <a:off x="9875520" y="5897880"/>
            <a:ext cx="7315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9875520" y="58978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Cancel</a:t>
            </a:r>
            <a:endParaRPr lang="en-US" sz="1050" dirty="0"/>
          </a:p>
        </p:txBody>
      </p:sp>
      <p:sp>
        <p:nvSpPr>
          <p:cNvPr id="52" name="Shape 48"/>
          <p:cNvSpPr/>
          <p:nvPr/>
        </p:nvSpPr>
        <p:spPr>
          <a:xfrm>
            <a:off x="10698480" y="5897880"/>
            <a:ext cx="731520" cy="292608"/>
          </a:xfrm>
          <a:prstGeom prst="roundRect">
            <a:avLst>
              <a:gd name="adj" fmla="val 18750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10698480" y="58978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OK</a:t>
            </a:r>
            <a:endParaRPr lang="en-US" sz="1050" dirty="0"/>
          </a:p>
        </p:txBody>
      </p:sp>
      <p:sp>
        <p:nvSpPr>
          <p:cNvPr id="54" name="Text 50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5-3 · 데이터 Import</a:t>
            </a:r>
            <a:endParaRPr lang="en-US" sz="900" dirty="0"/>
          </a:p>
        </p:txBody>
      </p:sp>
      <p:sp>
        <p:nvSpPr>
          <p:cNvPr id="55" name="Text 51"/>
          <p:cNvSpPr/>
          <p:nvPr/>
        </p:nvSpPr>
        <p:spPr>
          <a:xfrm>
            <a:off x="8503920" y="6547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sql-learn DB  |  15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6F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업로드된 데이터 확인하기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1E3A7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8992" y="1673352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 우클릭 → View/Edit 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1956816"/>
            <a:ext cx="3675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트리에서 테이블을 우클릭하고 View/Edit Data ▸ All Rows를 선택합니다.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384048" cy="384048"/>
          </a:xfrm>
          <a:prstGeom prst="ellipse">
            <a:avLst/>
          </a:prstGeom>
          <a:solidFill>
            <a:srgbClr val="1E3A7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8992" y="2496312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그리드 확인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78992" y="2779776"/>
            <a:ext cx="3675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하단에 열리는 그리드에서 행 수와 값이 CSV 내용과 일치하는지 확인합니다.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384048" cy="384048"/>
          </a:xfrm>
          <a:prstGeom prst="ellipse">
            <a:avLst/>
          </a:prstGeom>
          <a:solidFill>
            <a:srgbClr val="1E3A7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8992" y="3319272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Query Tool로 건수 확인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78992" y="3602736"/>
            <a:ext cx="3675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Query Tool에서 SELECT COUNT(*) 문으로 전체 행 수를 빠르게 확인할 수 있습니다.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384048" cy="384048"/>
          </a:xfrm>
          <a:prstGeom prst="ellipse">
            <a:avLst/>
          </a:prstGeom>
          <a:solidFill>
            <a:srgbClr val="1E3A7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78992" y="4142232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테이블 모두 반복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78992" y="4425696"/>
            <a:ext cx="3675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t_member, t_product, t_purchase_history 순서대로 동일하게 확인합니다.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548640" y="507492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0B1A3D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239512"/>
            <a:ext cx="37490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8FB1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 FROM t_member;</a:t>
            </a:r>
            <a:endParaRPr lang="en-US" sz="110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8FB1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 FROM t_product;</a:t>
            </a:r>
            <a:endParaRPr lang="en-US" sz="1100" dirty="0"/>
          </a:p>
          <a:p>
            <a:pPr marL="0" indent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8FB1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 FROM t_purchase_history;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74920" y="1691640"/>
            <a:ext cx="653796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77800" dist="50800" dir="5400000" algn="bl" rotWithShape="0">
              <a:srgbClr val="0B1A3D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74920" y="1691640"/>
            <a:ext cx="6537960" cy="329184"/>
          </a:xfrm>
          <a:prstGeom prst="roundRect">
            <a:avLst>
              <a:gd name="adj" fmla="val 22222"/>
            </a:avLst>
          </a:prstGeom>
          <a:solidFill>
            <a:srgbClr val="0B1A3D"/>
          </a:solidFill>
          <a:ln/>
        </p:spPr>
      </p:sp>
      <p:sp>
        <p:nvSpPr>
          <p:cNvPr id="25" name="Shape 23"/>
          <p:cNvSpPr/>
          <p:nvPr/>
        </p:nvSpPr>
        <p:spPr>
          <a:xfrm>
            <a:off x="5074920" y="1947672"/>
            <a:ext cx="6537960" cy="73152"/>
          </a:xfrm>
          <a:prstGeom prst="rect">
            <a:avLst/>
          </a:prstGeom>
          <a:solidFill>
            <a:srgbClr val="0B1A3D"/>
          </a:solidFill>
          <a:ln/>
        </p:spPr>
      </p:sp>
      <p:sp>
        <p:nvSpPr>
          <p:cNvPr id="26" name="Shape 24"/>
          <p:cNvSpPr/>
          <p:nvPr/>
        </p:nvSpPr>
        <p:spPr>
          <a:xfrm>
            <a:off x="5202936" y="1810512"/>
            <a:ext cx="91440" cy="9144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27" name="Shape 25"/>
          <p:cNvSpPr/>
          <p:nvPr/>
        </p:nvSpPr>
        <p:spPr>
          <a:xfrm>
            <a:off x="5385816" y="1810512"/>
            <a:ext cx="91440" cy="91440"/>
          </a:xfrm>
          <a:prstGeom prst="ellipse">
            <a:avLst/>
          </a:prstGeom>
          <a:solidFill>
            <a:srgbClr val="E8B923"/>
          </a:solidFill>
          <a:ln/>
        </p:spPr>
      </p:sp>
      <p:sp>
        <p:nvSpPr>
          <p:cNvPr id="28" name="Shape 26"/>
          <p:cNvSpPr/>
          <p:nvPr/>
        </p:nvSpPr>
        <p:spPr>
          <a:xfrm>
            <a:off x="5568696" y="1810512"/>
            <a:ext cx="91440" cy="91440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29" name="Text 27"/>
          <p:cNvSpPr/>
          <p:nvPr/>
        </p:nvSpPr>
        <p:spPr>
          <a:xfrm>
            <a:off x="5715000" y="1691640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3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View/Edit Data — t_member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166360" y="2157984"/>
            <a:ext cx="6355080" cy="292608"/>
          </a:xfrm>
          <a:prstGeom prst="rect">
            <a:avLst/>
          </a:prstGeom>
          <a:solidFill>
            <a:srgbClr val="EAF1FC"/>
          </a:solidFill>
          <a:ln w="6350">
            <a:solidFill>
              <a:srgbClr val="DCE4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2157984"/>
            <a:ext cx="158877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member_id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755130" y="2157984"/>
            <a:ext cx="158877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member_name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43900" y="2157984"/>
            <a:ext cx="158877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membership_level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932670" y="2157984"/>
            <a:ext cx="158877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user_yn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166360" y="2450592"/>
            <a:ext cx="158877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mem0001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755130" y="2450592"/>
            <a:ext cx="158877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김민준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343900" y="2450592"/>
            <a:ext cx="158877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932670" y="2450592"/>
            <a:ext cx="158877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166360" y="2724912"/>
            <a:ext cx="6355080" cy="274320"/>
          </a:xfrm>
          <a:prstGeom prst="rect">
            <a:avLst/>
          </a:prstGeom>
          <a:solidFill>
            <a:srgbClr val="F7FAFE"/>
          </a:solidFill>
          <a:ln/>
        </p:spPr>
      </p:sp>
      <p:sp>
        <p:nvSpPr>
          <p:cNvPr id="40" name="Text 38"/>
          <p:cNvSpPr/>
          <p:nvPr/>
        </p:nvSpPr>
        <p:spPr>
          <a:xfrm>
            <a:off x="5166360" y="2724912"/>
            <a:ext cx="158877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mem0002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755130" y="2724912"/>
            <a:ext cx="158877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이서연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343900" y="2724912"/>
            <a:ext cx="158877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932670" y="2724912"/>
            <a:ext cx="158877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166360" y="2999232"/>
            <a:ext cx="158877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mem0003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755130" y="2999232"/>
            <a:ext cx="158877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박도윤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343900" y="2999232"/>
            <a:ext cx="158877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9932670" y="2999232"/>
            <a:ext cx="158877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166360" y="3273552"/>
            <a:ext cx="6355080" cy="274320"/>
          </a:xfrm>
          <a:prstGeom prst="rect">
            <a:avLst/>
          </a:prstGeom>
          <a:solidFill>
            <a:srgbClr val="F7FAFE"/>
          </a:solidFill>
          <a:ln/>
        </p:spPr>
      </p:sp>
      <p:sp>
        <p:nvSpPr>
          <p:cNvPr id="49" name="Text 47"/>
          <p:cNvSpPr/>
          <p:nvPr/>
        </p:nvSpPr>
        <p:spPr>
          <a:xfrm>
            <a:off x="5166360" y="3273552"/>
            <a:ext cx="158877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mem0004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755130" y="3273552"/>
            <a:ext cx="158877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최지우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343900" y="3273552"/>
            <a:ext cx="158877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9932670" y="3273552"/>
            <a:ext cx="158877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166360" y="3547872"/>
            <a:ext cx="158877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mem0005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755130" y="3547872"/>
            <a:ext cx="158877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정하윤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343900" y="3547872"/>
            <a:ext cx="158877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9932670" y="3547872"/>
            <a:ext cx="158877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166360" y="2157984"/>
            <a:ext cx="6355080" cy="1664208"/>
          </a:xfrm>
          <a:prstGeom prst="rect">
            <a:avLst/>
          </a:prstGeom>
          <a:ln w="6350">
            <a:solidFill>
              <a:srgbClr val="DCE4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12080" y="5943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 Rows: 128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pgAdmin4 데이터 업로드 매뉴얼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503920" y="6547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sql-learn DB  |  16 /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해결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발생하는 오류와 해결 방법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BFCFE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73152" cy="841248"/>
          </a:xfrm>
          <a:prstGeom prst="roundRect">
            <a:avLst/>
          </a:prstGeom>
          <a:solidFill>
            <a:srgbClr val="D64545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45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4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duplicate key value violates unique constraint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93852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 KEY 컬럼(member_id, product_id, sales_id)에 중복된 값이 있습니다. CSV에서 중복 행을 제거하세요.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BFCFE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514600"/>
            <a:ext cx="73152" cy="841248"/>
          </a:xfrm>
          <a:prstGeom prst="roundRect">
            <a:avLst/>
          </a:prstGeom>
          <a:solidFill>
            <a:srgbClr val="D64545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606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4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 input syntax / extra data after last expected column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89864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 컬럼 개수·순서가 테이블과 다릅니다. Columns 탭에서 CSV 헤더와 테이블 컬럼 매핑을 다시 확인하세요.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BFCFE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474720"/>
            <a:ext cx="73152" cy="841248"/>
          </a:xfrm>
          <a:prstGeom prst="roundRect">
            <a:avLst/>
          </a:prstGeom>
          <a:solidFill>
            <a:srgbClr val="D64545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5661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4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row violates check constraint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38587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 제약조건(M/F, Y/N, 00~02 등)에 정의되지 않은 값이 입력됐습니다. 코드값 오탈자를 확인하세요.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BFCFE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434840"/>
            <a:ext cx="73152" cy="841248"/>
          </a:xfrm>
          <a:prstGeom prst="roundRect">
            <a:avLst/>
          </a:prstGeom>
          <a:solidFill>
            <a:srgbClr val="D64545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5262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4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인코딩 오류 / 한글 깨짐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481888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Import 대화상자의 Encoding이 UTF8인지, CSV 저장 시에도 UTF-8(BOM 없이)로 저장했는지 확인하세요.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539496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BFCFE"/>
          </a:solidFill>
          <a:ln w="12700">
            <a:solidFill>
              <a:srgbClr val="DCE4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5394960"/>
            <a:ext cx="73152" cy="841248"/>
          </a:xfrm>
          <a:prstGeom prst="roundRect">
            <a:avLst/>
          </a:prstGeom>
          <a:solidFill>
            <a:srgbClr val="D64545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4864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4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too long for type character varying(n)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577900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VARCHAR 길이 제한을 초과했습니다. 예: member_name VARCHAR(30) 초과 시 값을 줄이거나 컬럼 길이를 늘리세요.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pgAdmin4 데이터 업로드 매뉴얼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503920" y="6547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sql-learn DB  |  17 / 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B1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수고하셨습니다!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77240" y="11430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sql-learn 데이터 업로드 완료 체크리스트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295C"/>
          </a:solidFill>
          <a:ln w="12700">
            <a:solidFill>
              <a:srgbClr val="3E5A9E"/>
            </a:solidFill>
            <a:prstDash val="solid"/>
          </a:ln>
        </p:spPr>
      </p:sp>
      <p:pic>
        <p:nvPicPr>
          <p:cNvPr id="5" name="Image 0" descr="assets/icon_check_1F9D6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2231136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21671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A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pgAdmin4에서 PostgreSQL 서버에 연결했다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22960" y="27249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295C"/>
          </a:solidFill>
          <a:ln w="12700">
            <a:solidFill>
              <a:srgbClr val="3E5A9E"/>
            </a:solidFill>
            <a:prstDash val="solid"/>
          </a:ln>
        </p:spPr>
      </p:sp>
      <p:pic>
        <p:nvPicPr>
          <p:cNvPr id="8" name="Image 1" descr="assets/icon_check_1F9D6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2761488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6974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A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sql-learn 데이터베이스를 생성했다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822960" y="325526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295C"/>
          </a:solidFill>
          <a:ln w="12700">
            <a:solidFill>
              <a:srgbClr val="3E5A9E"/>
            </a:solidFill>
            <a:prstDash val="solid"/>
          </a:ln>
        </p:spPr>
      </p:sp>
      <p:pic>
        <p:nvPicPr>
          <p:cNvPr id="11" name="Image 2" descr="assets/icon_check_1F9D6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329184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322783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A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t_member, t_product, t_purchase_history 3개 테이블을 생성했다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822960" y="37856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295C"/>
          </a:solidFill>
          <a:ln w="12700">
            <a:solidFill>
              <a:srgbClr val="3E5A9E"/>
            </a:solidFill>
            <a:prstDash val="solid"/>
          </a:ln>
        </p:spPr>
      </p:sp>
      <p:pic>
        <p:nvPicPr>
          <p:cNvPr id="14" name="Image 3" descr="assets/icon_check_1F9D6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3822192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80160" y="375818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A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 파일을 UTF-8, 콤마 구분, 헤더 포함 형식으로 준비했다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2960" y="431596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295C"/>
          </a:solidFill>
          <a:ln w="12700">
            <a:solidFill>
              <a:srgbClr val="3E5A9E"/>
            </a:solidFill>
            <a:prstDash val="solid"/>
          </a:ln>
        </p:spPr>
      </p:sp>
      <p:pic>
        <p:nvPicPr>
          <p:cNvPr id="17" name="Image 4" descr="assets/icon_check_1F9D6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352544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80160" y="4288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A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t_member → t_product → t_purchase_history 순서로 데이터를 업로드했다</a:t>
            </a:r>
            <a:endParaRPr lang="en-US" sz="1350" dirty="0"/>
          </a:p>
        </p:txBody>
      </p:sp>
      <p:sp>
        <p:nvSpPr>
          <p:cNvPr id="19" name="Shape 12"/>
          <p:cNvSpPr/>
          <p:nvPr/>
        </p:nvSpPr>
        <p:spPr>
          <a:xfrm>
            <a:off x="822960" y="484632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6295C"/>
          </a:solidFill>
          <a:ln w="12700">
            <a:solidFill>
              <a:srgbClr val="3E5A9E"/>
            </a:solidFill>
            <a:prstDash val="solid"/>
          </a:ln>
        </p:spPr>
      </p:sp>
      <p:pic>
        <p:nvPicPr>
          <p:cNvPr id="20" name="Image 5" descr="assets/icon_check_1F9D6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882896"/>
            <a:ext cx="201168" cy="20116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280160" y="481888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A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View/Edit Data 또는 SELECT COUNT(*)로 업로드 결과를 확인했다</a:t>
            </a:r>
            <a:endParaRPr lang="en-US" sz="1350" dirty="0"/>
          </a:p>
        </p:txBody>
      </p:sp>
      <p:sp>
        <p:nvSpPr>
          <p:cNvPr id="22" name="Shape 14"/>
          <p:cNvSpPr/>
          <p:nvPr/>
        </p:nvSpPr>
        <p:spPr>
          <a:xfrm>
            <a:off x="822960" y="5760720"/>
            <a:ext cx="10515600" cy="685800"/>
          </a:xfrm>
          <a:prstGeom prst="roundRect">
            <a:avLst>
              <a:gd name="adj" fmla="val 13333"/>
            </a:avLst>
          </a:prstGeom>
          <a:solidFill>
            <a:srgbClr val="16295C"/>
          </a:solidFill>
          <a:ln w="12700">
            <a:solidFill>
              <a:srgbClr val="2A4A8A"/>
            </a:solidFill>
            <a:prstDash val="solid"/>
          </a:ln>
        </p:spPr>
      </p:sp>
      <p:pic>
        <p:nvPicPr>
          <p:cNvPr id="23" name="Image 6" descr="assets/icon_bulb_E8B92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5925312"/>
            <a:ext cx="347472" cy="34747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508760" y="576072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3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단계로는 3개 테이블을 JOIN하는 SQL 실습을 진행해 보세요. (예: 회원별 구매 건수, 상품별 매출 집계)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2732</Words>
  <Application>Microsoft Office PowerPoint</Application>
  <PresentationFormat>와이드스크린</PresentationFormat>
  <Paragraphs>521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Malgun Gothic</vt:lpstr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석현 김</cp:lastModifiedBy>
  <cp:revision>4</cp:revision>
  <dcterms:created xsi:type="dcterms:W3CDTF">2026-07-13T20:23:19Z</dcterms:created>
  <dcterms:modified xsi:type="dcterms:W3CDTF">2026-07-16T13:24:37Z</dcterms:modified>
</cp:coreProperties>
</file>