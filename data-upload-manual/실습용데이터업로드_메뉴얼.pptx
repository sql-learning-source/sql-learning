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3" r:id="rId10"/>
    <p:sldId id="264" r:id="rId11"/>
    <p:sldId id="265" r:id="rId12"/>
    <p:sldId id="276" r:id="rId13"/>
    <p:sldId id="266" r:id="rId14"/>
    <p:sldId id="267" r:id="rId15"/>
    <p:sldId id="277" r:id="rId16"/>
    <p:sldId id="279" r:id="rId17"/>
    <p:sldId id="268" r:id="rId18"/>
    <p:sldId id="269" r:id="rId19"/>
    <p:sldId id="270" r:id="rId20"/>
    <p:sldId id="271" r:id="rId21"/>
    <p:sldId id="280" r:id="rId22"/>
    <p:sldId id="272" r:id="rId23"/>
    <p:sldId id="273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374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1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47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E0A3-FA64-9F2D-9FD8-0A07BBC71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93896-1B16-8D21-4174-CE87108C8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8A06E-3473-BD23-49CF-F8DEB7E52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62AA3-81E7-1E3F-1D22-320DB9B4B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3615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FCC11-ED71-9307-22FE-066AAB56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42B5C-1363-C3CE-22D9-5AB113584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3AFDB-601F-757E-F964-4BEDE9EA1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BA82B-BA53-6154-FE19-8131A989AD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7126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85A6A-168D-7986-CD5E-9E93EDA4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0949C-7799-2F9C-A902-B96BE2977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543CE-2EBB-9B42-47D5-349B95FFD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E6EF3-780A-A319-DC69-08FF7BF62A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68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D1D39-75A1-E36B-4F1E-20EF6EBD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17FCF6-A2C0-179A-EDBF-E5E38D651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0EF36-0D7B-4FEF-1D9A-B46418613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6E5FA-8E83-3F1D-D4F2-CB5922CEA8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87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E27A-A11A-2D76-1CAD-DD7A5477F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AB421-BFEC-451C-FF33-E5786ED79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F5376-A9EA-FC7E-4AF7-F87F1DD1C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26940-A48D-9192-0EBE-C562834F5C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55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ql-learn.github.io/sql-learning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sql-learn.github.io/sql-learning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A4A8A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3" name="Image 0" descr="assets/icon_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943661"/>
            <a:ext cx="307238" cy="3072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920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1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77240" y="233172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기반</a:t>
            </a:r>
            <a:endParaRPr lang="en-US" sz="4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업로드 매뉴얼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04672" y="4069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데이터베이스에 회원 · 상품 · 구매이력 데이터를 CSV로 </a:t>
            </a:r>
            <a:r>
              <a:rPr lang="en-US" sz="1450" dirty="0" err="1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업로드하는</a:t>
            </a: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과정을</a:t>
            </a: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</a:t>
            </a: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실습 가이드입니다.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" y="499001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6295C"/>
          </a:solidFill>
          <a:ln w="12700">
            <a:solidFill>
              <a:srgbClr val="2A4A8A"/>
            </a:solidFill>
            <a:prstDash val="solid"/>
          </a:ln>
        </p:spPr>
      </p:sp>
      <p:pic>
        <p:nvPicPr>
          <p:cNvPr id="8" name="Image 1" descr="assets/icon_tab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519117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509973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t_member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537405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B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회원정보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37560" y="499001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6295C"/>
          </a:solidFill>
          <a:ln w="12700">
            <a:solidFill>
              <a:srgbClr val="2A4A8A"/>
            </a:solidFill>
            <a:prstDash val="solid"/>
          </a:ln>
        </p:spPr>
      </p:sp>
      <p:pic>
        <p:nvPicPr>
          <p:cNvPr id="12" name="Image 2" descr="assets/icon_tab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8728" y="5191178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31920" y="509973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t_product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931920" y="537405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B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상품정보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852160" y="4990010"/>
            <a:ext cx="3017520" cy="868680"/>
          </a:xfrm>
          <a:prstGeom prst="roundRect">
            <a:avLst>
              <a:gd name="adj" fmla="val 10526"/>
            </a:avLst>
          </a:prstGeom>
          <a:solidFill>
            <a:srgbClr val="16295C"/>
          </a:solidFill>
          <a:ln w="12700">
            <a:solidFill>
              <a:srgbClr val="2A4A8A"/>
            </a:solidFill>
            <a:prstDash val="solid"/>
          </a:ln>
        </p:spPr>
      </p:sp>
      <p:pic>
        <p:nvPicPr>
          <p:cNvPr id="16" name="Image 3" descr="assets/icon_tab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5191178"/>
            <a:ext cx="292608" cy="2926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46520" y="509973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t_purchase_history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446520" y="537405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B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구매이력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822960" y="622445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8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Database: sql-learn        Tool: pgAdmin4        전제조건: PostgreSQL 설치 완료</a:t>
            </a:r>
            <a:endParaRPr lang="en-US" sz="1100" dirty="0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A7A084EA-4A40-0087-F732-5BCD04F0C312}"/>
              </a:ext>
            </a:extLst>
          </p:cNvPr>
          <p:cNvSpPr/>
          <p:nvPr/>
        </p:nvSpPr>
        <p:spPr>
          <a:xfrm>
            <a:off x="6203449" y="5945340"/>
            <a:ext cx="5332461" cy="690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</a:rPr>
              <a:t>PostgreSQL </a:t>
            </a:r>
            <a:r>
              <a:rPr lang="ko-KR" alt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</a:rPr>
              <a:t>설치 매뉴얼 및 </a:t>
            </a:r>
            <a:r>
              <a:rPr 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</a:rPr>
              <a:t>CSV</a:t>
            </a:r>
            <a:r>
              <a:rPr lang="ko-KR" altLang="en-US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</a:rPr>
              <a:t> 파일 다운로드</a:t>
            </a:r>
            <a:br>
              <a:rPr lang="en-US" altLang="ko-KR" sz="14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</a:rPr>
            </a:br>
            <a:r>
              <a:rPr lang="en-US" altLang="ko-KR" sz="1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https://sql-learn.github.io/sql-learning/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매뉴얼에서 다루는 내용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691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준비사항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984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pgAdmin4 · CSV 파일 확인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95144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43000" y="2295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진행 흐름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연결부터 데이터 확인까지 5단계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98648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43000" y="28986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연결 &amp; DB 생성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1912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실행, sql-learn 데이터베이스 생성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47288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02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4300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3794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Tool로 3개 테이블 생성 (SQL 실행)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89320" y="1691640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83680" y="1691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파일 준비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83680" y="1984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테이블별 컬럼 순서와 형식 맞추기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0" y="2240280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2295144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0" y="22951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Import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기능으로 3개 테이블 업로드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89320" y="2843784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2898648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583680" y="28986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확인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0" y="31912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View/Edit Data로 업로드된 데이터 검증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89320" y="3447288"/>
            <a:ext cx="50749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3502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58368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해결 가이드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0" y="3794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발생하는 오류와 해결 방법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전에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준비사항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3가지가 준비되어 있어야 이 매뉴얼을 따라 할 수 있어요.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383280" cy="3246120"/>
          </a:xfrm>
          <a:prstGeom prst="roundRect">
            <a:avLst>
              <a:gd name="adj" fmla="val 3380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377440"/>
            <a:ext cx="685800" cy="6858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8" name="Image 0" descr="assets/icon_server_2F6F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255574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3246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설치 완료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3544386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PC 또는 서버에 PostgreSQL이 설치되어 있고,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정상적으로 실행 중이어야 합니다.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51960" y="2057400"/>
            <a:ext cx="3383280" cy="3246120"/>
          </a:xfrm>
          <a:prstGeom prst="roundRect">
            <a:avLst>
              <a:gd name="adj" fmla="val 3380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26280" y="2377440"/>
            <a:ext cx="685800" cy="6858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13" name="Image 1" descr="assets/icon_plug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588" y="255574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26280" y="3246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설치 완료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26280" y="3544386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관리 도구인 pgAdmin4가 설치되어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있어야 합니다. (설치 시 함께 제공되는 경우가 많음)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55280" y="2057400"/>
            <a:ext cx="3383280" cy="3246120"/>
          </a:xfrm>
          <a:prstGeom prst="roundRect">
            <a:avLst>
              <a:gd name="adj" fmla="val 3380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2377440"/>
            <a:ext cx="685800" cy="6858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18" name="Image 2" descr="assets/icon_csv_2F6F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908" y="255574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0" y="3246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데이터 파일 준비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229600" y="3544386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t_member, t_product, t_purchase_history에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업로드할 CSV 파일 3개를 준비합니다.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6DF"/>
          </a:solidFill>
          <a:ln w="12700">
            <a:solidFill>
              <a:srgbClr val="F0DFA0"/>
            </a:solidFill>
            <a:prstDash val="solid"/>
          </a:ln>
        </p:spPr>
      </p:sp>
      <p:pic>
        <p:nvPicPr>
          <p:cNvPr id="22" name="Image 3" descr="assets/icon_bulb_E8B9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9671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43000" y="5641848"/>
            <a:ext cx="10287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D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43000" y="591616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PostgreSQL이 아직 없다면 공식 사이트(postgresql.org)에서 설치 프로그램을 내려받아 설치할 수 있습니다. 설치 과정에서 pgAdmin4가 함께 설치되는 옵션을 선택하면 별도 설치가 필요 없습니다.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3 / 18</a:t>
            </a:r>
            <a:endParaRPr lang="en-US" sz="9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3E63695E-A1CB-A094-8030-03574D9303FB}"/>
              </a:ext>
            </a:extLst>
          </p:cNvPr>
          <p:cNvSpPr/>
          <p:nvPr/>
        </p:nvSpPr>
        <p:spPr>
          <a:xfrm>
            <a:off x="8251374" y="4711336"/>
            <a:ext cx="3017518" cy="620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200" i="1" dirty="0">
                <a:latin typeface="Malgun Gothic" pitchFamily="34" charset="0"/>
                <a:ea typeface="Malgun Gothic" pitchFamily="34" charset="-122"/>
              </a:rPr>
              <a:t>CSV</a:t>
            </a:r>
            <a:r>
              <a:rPr lang="ko-KR" altLang="en-US" sz="1200" i="1" dirty="0">
                <a:latin typeface="Malgun Gothic" pitchFamily="34" charset="0"/>
                <a:ea typeface="Malgun Gothic" pitchFamily="34" charset="-122"/>
              </a:rPr>
              <a:t> 파일 다운로드</a:t>
            </a:r>
            <a:endParaRPr lang="en-US" altLang="ko-KR" sz="1200" i="1" dirty="0">
              <a:latin typeface="Malgun Gothic" pitchFamily="34" charset="0"/>
              <a:ea typeface="Malgun Gothic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ko-KR" sz="1200" b="1" i="1" dirty="0">
                <a:latin typeface="맑은 고딕" pitchFamily="34" charset="0"/>
                <a:ea typeface="맑은 고딕" pitchFamily="34" charset="-122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https://sql-learn.github.io/sql-learning/</a:t>
            </a:r>
            <a:endParaRPr lang="en-US" sz="1200" b="1" i="1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55759BAB-206C-E4B0-4C26-3A2834342B46}"/>
              </a:ext>
            </a:extLst>
          </p:cNvPr>
          <p:cNvSpPr/>
          <p:nvPr/>
        </p:nvSpPr>
        <p:spPr>
          <a:xfrm>
            <a:off x="777242" y="4711336"/>
            <a:ext cx="3017518" cy="620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i="1" dirty="0">
                <a:latin typeface="Malgun Gothic" pitchFamily="34" charset="0"/>
                <a:ea typeface="Malgun Gothic" pitchFamily="34" charset="-122"/>
              </a:rPr>
              <a:t>PostgreSQL </a:t>
            </a:r>
            <a:r>
              <a:rPr lang="ko-KR" altLang="en-US" sz="1200" i="1" dirty="0">
                <a:latin typeface="Malgun Gothic" pitchFamily="34" charset="0"/>
                <a:ea typeface="Malgun Gothic" pitchFamily="34" charset="-122"/>
              </a:rPr>
              <a:t>설치 매뉴얼</a:t>
            </a:r>
            <a:endParaRPr lang="en-US" altLang="ko-KR" sz="1200" i="1" dirty="0">
              <a:latin typeface="Malgun Gothic" pitchFamily="34" charset="0"/>
              <a:ea typeface="Malgun Gothic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ko-KR" sz="1200" b="1" i="1" dirty="0">
                <a:latin typeface="맑은 고딕" pitchFamily="34" charset="0"/>
                <a:ea typeface="맑은 고딕" pitchFamily="34" charset="-122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https://sql-learn.github.io/sql-learning/</a:t>
            </a:r>
            <a:endParaRPr lang="en-US" sz="1200" b="1" i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흐름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업로드, 5단계로 진행합니다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865376" cy="1737360"/>
          </a:xfrm>
          <a:prstGeom prst="roundRect">
            <a:avLst>
              <a:gd name="adj" fmla="val 6316"/>
            </a:avLst>
          </a:prstGeom>
          <a:solidFill>
            <a:srgbClr val="1E3A70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B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pic>
        <p:nvPicPr>
          <p:cNvPr id="7" name="Image 0" descr="assets/icon_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697480"/>
            <a:ext cx="585216" cy="5852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3832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연결</a:t>
            </a:r>
            <a:endParaRPr lang="en-US" sz="1350" dirty="0"/>
          </a:p>
        </p:txBody>
      </p:sp>
      <p:pic>
        <p:nvPicPr>
          <p:cNvPr id="9" name="Image 1" descr="assets/icon_arrow_1E3A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6020" y="2935224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34056" y="2194560"/>
            <a:ext cx="1865376" cy="1737360"/>
          </a:xfrm>
          <a:prstGeom prst="roundRect">
            <a:avLst>
              <a:gd name="adj" fmla="val 6316"/>
            </a:avLst>
          </a:prstGeom>
          <a:solidFill>
            <a:srgbClr val="1E3A70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2871216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B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pic>
        <p:nvPicPr>
          <p:cNvPr id="12" name="Image 2" descr="assets/icon_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4136" y="2697480"/>
            <a:ext cx="585216" cy="58521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825496" y="33832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생성</a:t>
            </a:r>
            <a:endParaRPr lang="en-US" sz="1350" dirty="0"/>
          </a:p>
        </p:txBody>
      </p:sp>
      <p:pic>
        <p:nvPicPr>
          <p:cNvPr id="14" name="Image 3" descr="assets/icon_arrow_1E3A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6" y="2935224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919472" y="2194560"/>
            <a:ext cx="1865376" cy="1737360"/>
          </a:xfrm>
          <a:prstGeom prst="roundRect">
            <a:avLst>
              <a:gd name="adj" fmla="val 6316"/>
            </a:avLst>
          </a:prstGeom>
          <a:solidFill>
            <a:srgbClr val="1E3A70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5056632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B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pic>
        <p:nvPicPr>
          <p:cNvPr id="17" name="Image 4" descr="assets/icon_tab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2697480"/>
            <a:ext cx="585216" cy="585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10912" y="33832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350" dirty="0"/>
          </a:p>
        </p:txBody>
      </p:sp>
      <p:pic>
        <p:nvPicPr>
          <p:cNvPr id="19" name="Image 5" descr="assets/icon_arrow_1E3A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2935224"/>
            <a:ext cx="256032" cy="256032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7104888" y="2194560"/>
            <a:ext cx="1865376" cy="1737360"/>
          </a:xfrm>
          <a:prstGeom prst="roundRect">
            <a:avLst>
              <a:gd name="adj" fmla="val 6316"/>
            </a:avLst>
          </a:prstGeom>
          <a:solidFill>
            <a:srgbClr val="1E3A70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724204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B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pic>
        <p:nvPicPr>
          <p:cNvPr id="22" name="Image 6" descr="assets/icon_uploa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4968" y="2697480"/>
            <a:ext cx="585216" cy="58521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96328" y="33832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Import</a:t>
            </a:r>
            <a:endParaRPr lang="en-US" sz="1350" dirty="0"/>
          </a:p>
        </p:txBody>
      </p:sp>
      <p:pic>
        <p:nvPicPr>
          <p:cNvPr id="24" name="Image 7" descr="assets/icon_arrow_1E3A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268" y="2935224"/>
            <a:ext cx="256032" cy="256032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290304" y="2194560"/>
            <a:ext cx="1865376" cy="1737360"/>
          </a:xfrm>
          <a:prstGeom prst="roundRect">
            <a:avLst>
              <a:gd name="adj" fmla="val 6316"/>
            </a:avLst>
          </a:prstGeom>
          <a:solidFill>
            <a:srgbClr val="1F9D6B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26" name="Text 16"/>
          <p:cNvSpPr/>
          <p:nvPr/>
        </p:nvSpPr>
        <p:spPr>
          <a:xfrm>
            <a:off x="9427464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B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pic>
        <p:nvPicPr>
          <p:cNvPr id="27" name="Image 8" descr="assets/icon_check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697480"/>
            <a:ext cx="585216" cy="58521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381744" y="33832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확인</a:t>
            </a:r>
            <a:endParaRPr lang="en-US" sz="1350" dirty="0"/>
          </a:p>
        </p:txBody>
      </p:sp>
      <p:sp>
        <p:nvSpPr>
          <p:cNvPr id="29" name="Text 18"/>
          <p:cNvSpPr/>
          <p:nvPr/>
        </p:nvSpPr>
        <p:spPr>
          <a:xfrm>
            <a:off x="548640" y="4434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Tool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사용해 SQL 스크립트로 테이블을 만들고, </a:t>
            </a:r>
            <a:r>
              <a:rPr lang="en-US" sz="125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기능을 사용해 CSV 파일을 각 테이블에 업로드합니다.</a:t>
            </a:r>
            <a:endParaRPr lang="en-US" sz="1250" dirty="0"/>
          </a:p>
        </p:txBody>
      </p:sp>
      <p:sp>
        <p:nvSpPr>
          <p:cNvPr id="30" name="Shape 19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DECEC"/>
          </a:solidFill>
          <a:ln w="12700">
            <a:solidFill>
              <a:srgbClr val="F3C9C9"/>
            </a:solidFill>
            <a:prstDash val="solid"/>
          </a:ln>
        </p:spPr>
      </p:sp>
      <p:pic>
        <p:nvPicPr>
          <p:cNvPr id="31" name="Image 9" descr="assets/icon_warning_D6454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5239512"/>
            <a:ext cx="274320" cy="27432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1143000" y="5184648"/>
            <a:ext cx="10287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가져오는 순서에 주의하세요</a:t>
            </a:r>
            <a:endParaRPr lang="en-US" sz="1200" dirty="0"/>
          </a:p>
        </p:txBody>
      </p:sp>
      <p:sp>
        <p:nvSpPr>
          <p:cNvPr id="33" name="Text 21"/>
          <p:cNvSpPr/>
          <p:nvPr/>
        </p:nvSpPr>
        <p:spPr>
          <a:xfrm>
            <a:off x="1143000" y="54589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t_purchase_history 테이블의 member_id, product_id 값은 t_member, t_product 테이블의 값을 참조하는 성격의 데이터입니다. 데이터 정합성을 위해 반드시 t_member → t_product → t_purchase_history 순서로 데이터를 먼저 업로드하세요.</a:t>
            </a:r>
            <a:endParaRPr lang="en-US" sz="1050" dirty="0"/>
          </a:p>
        </p:txBody>
      </p:sp>
      <p:sp>
        <p:nvSpPr>
          <p:cNvPr id="34" name="Text 22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35" name="Text 23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실행 후 서버 연결하기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16733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실행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95681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설치된 pgAdmin4를 실행하면 웹 브라우저 형태의 화면이 열립니다.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4963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목록에서 서버 클릭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277977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 메뉴의 Servers 항목을 펼치고, 연결할 PostgreSQL 서버를 클릭합니다.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8992" y="331927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입력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8992" y="360273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시 설정한 postgres 계정 비밀번호를 입력하고 OK를 클릭합니다.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78992" y="414223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 확인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442569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아이콘이 활성화되고 하위 트리(Databases 등)가 나타나면 연결 성공입니다.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DF"/>
          </a:solidFill>
          <a:ln w="12700">
            <a:solidFill>
              <a:srgbClr val="F0DFA0"/>
            </a:solidFill>
            <a:prstDash val="solid"/>
          </a:ln>
        </p:spPr>
      </p:sp>
      <p:pic>
        <p:nvPicPr>
          <p:cNvPr id="22" name="Image 0" descr="assets/icon_bulb_E8B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239512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43000" y="51846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D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43000" y="545896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비밀번호는 'Save Password' 옵션을 체크하면 다음부터 입력하지 않아도 됩니다. (개인 PC에서만 권장)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7" name="Shape 24"/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8" name="Shape 25"/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9" name="Shape 26"/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30" name="Shape 27"/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31" name="Text 28"/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 4  —  Browser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52" name="Text 47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5 / 18</a:t>
            </a:r>
            <a:endParaRPr lang="en-US" sz="900" dirty="0"/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D88D48C7-C2E5-9219-F8BA-9CA3100BEE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2139163"/>
            <a:ext cx="6233900" cy="4289603"/>
          </a:xfrm>
          <a:prstGeom prst="rect">
            <a:avLst/>
          </a:prstGeom>
        </p:spPr>
      </p:pic>
      <p:sp>
        <p:nvSpPr>
          <p:cNvPr id="56" name="Shape 34">
            <a:extLst>
              <a:ext uri="{FF2B5EF4-FFF2-40B4-BE49-F238E27FC236}">
                <a16:creationId xmlns:a16="http://schemas.microsoft.com/office/drawing/2014/main" id="{F3FEEB5C-0FC5-A737-074B-AA85AED9465E}"/>
              </a:ext>
            </a:extLst>
          </p:cNvPr>
          <p:cNvSpPr/>
          <p:nvPr/>
        </p:nvSpPr>
        <p:spPr>
          <a:xfrm>
            <a:off x="6905549" y="3063240"/>
            <a:ext cx="4053535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58" name="Shape 35">
            <a:extLst>
              <a:ext uri="{FF2B5EF4-FFF2-40B4-BE49-F238E27FC236}">
                <a16:creationId xmlns:a16="http://schemas.microsoft.com/office/drawing/2014/main" id="{0CCEE343-CB56-8FEC-2831-B1C1DD83E6BA}"/>
              </a:ext>
            </a:extLst>
          </p:cNvPr>
          <p:cNvSpPr/>
          <p:nvPr/>
        </p:nvSpPr>
        <p:spPr>
          <a:xfrm>
            <a:off x="6905549" y="3063240"/>
            <a:ext cx="4053535" cy="310896"/>
          </a:xfrm>
          <a:prstGeom prst="rect">
            <a:avLst/>
          </a:prstGeom>
          <a:solidFill>
            <a:srgbClr val="EAF1FC"/>
          </a:solidFill>
          <a:ln/>
        </p:spPr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6EA75CEF-AA78-F379-399B-D2CEDDA227CE}"/>
              </a:ext>
            </a:extLst>
          </p:cNvPr>
          <p:cNvSpPr/>
          <p:nvPr/>
        </p:nvSpPr>
        <p:spPr>
          <a:xfrm>
            <a:off x="7042709" y="3063240"/>
            <a:ext cx="3779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 to Server</a:t>
            </a:r>
            <a:endParaRPr lang="en-US" sz="1050" dirty="0"/>
          </a:p>
        </p:txBody>
      </p:sp>
      <p:sp>
        <p:nvSpPr>
          <p:cNvPr id="62" name="Text 37">
            <a:extLst>
              <a:ext uri="{FF2B5EF4-FFF2-40B4-BE49-F238E27FC236}">
                <a16:creationId xmlns:a16="http://schemas.microsoft.com/office/drawing/2014/main" id="{46509F63-CE67-8F82-EBBD-A5467436A1BF}"/>
              </a:ext>
            </a:extLst>
          </p:cNvPr>
          <p:cNvSpPr/>
          <p:nvPr/>
        </p:nvSpPr>
        <p:spPr>
          <a:xfrm>
            <a:off x="7088429" y="35661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Password</a:t>
            </a:r>
            <a:endParaRPr lang="en-US" sz="1050" dirty="0"/>
          </a:p>
        </p:txBody>
      </p:sp>
      <p:sp>
        <p:nvSpPr>
          <p:cNvPr id="64" name="Shape 38">
            <a:extLst>
              <a:ext uri="{FF2B5EF4-FFF2-40B4-BE49-F238E27FC236}">
                <a16:creationId xmlns:a16="http://schemas.microsoft.com/office/drawing/2014/main" id="{31CF4E33-E520-9F63-42D6-4675B43994CB}"/>
              </a:ext>
            </a:extLst>
          </p:cNvPr>
          <p:cNvSpPr/>
          <p:nvPr/>
        </p:nvSpPr>
        <p:spPr>
          <a:xfrm>
            <a:off x="8002829" y="3566160"/>
            <a:ext cx="2773375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66" name="Text 39">
            <a:extLst>
              <a:ext uri="{FF2B5EF4-FFF2-40B4-BE49-F238E27FC236}">
                <a16:creationId xmlns:a16="http://schemas.microsoft.com/office/drawing/2014/main" id="{AF54A8EA-1828-4E3C-2742-1F54014834C6}"/>
              </a:ext>
            </a:extLst>
          </p:cNvPr>
          <p:cNvSpPr/>
          <p:nvPr/>
        </p:nvSpPr>
        <p:spPr>
          <a:xfrm>
            <a:off x="8094269" y="3566160"/>
            <a:ext cx="2590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••••••••</a:t>
            </a:r>
            <a:endParaRPr lang="en-US" sz="1050" dirty="0"/>
          </a:p>
        </p:txBody>
      </p:sp>
      <p:sp>
        <p:nvSpPr>
          <p:cNvPr id="68" name="Shape 40">
            <a:extLst>
              <a:ext uri="{FF2B5EF4-FFF2-40B4-BE49-F238E27FC236}">
                <a16:creationId xmlns:a16="http://schemas.microsoft.com/office/drawing/2014/main" id="{4B086E26-4F44-D5B2-E145-9D6BE1AEFDAB}"/>
              </a:ext>
            </a:extLst>
          </p:cNvPr>
          <p:cNvSpPr/>
          <p:nvPr/>
        </p:nvSpPr>
        <p:spPr>
          <a:xfrm>
            <a:off x="7088429" y="397764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70" name="Text 41">
            <a:extLst>
              <a:ext uri="{FF2B5EF4-FFF2-40B4-BE49-F238E27FC236}">
                <a16:creationId xmlns:a16="http://schemas.microsoft.com/office/drawing/2014/main" id="{13BC1D2B-D2BB-8892-924D-A3D3AFC93A1C}"/>
              </a:ext>
            </a:extLst>
          </p:cNvPr>
          <p:cNvSpPr/>
          <p:nvPr/>
        </p:nvSpPr>
        <p:spPr>
          <a:xfrm>
            <a:off x="7307885" y="39319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 Password</a:t>
            </a:r>
            <a:endParaRPr lang="en-US" sz="950" dirty="0"/>
          </a:p>
        </p:txBody>
      </p:sp>
      <p:sp>
        <p:nvSpPr>
          <p:cNvPr id="72" name="Shape 42">
            <a:extLst>
              <a:ext uri="{FF2B5EF4-FFF2-40B4-BE49-F238E27FC236}">
                <a16:creationId xmlns:a16="http://schemas.microsoft.com/office/drawing/2014/main" id="{9320818D-C652-B0F5-445E-FF5FD93993C9}"/>
              </a:ext>
            </a:extLst>
          </p:cNvPr>
          <p:cNvSpPr/>
          <p:nvPr/>
        </p:nvSpPr>
        <p:spPr>
          <a:xfrm>
            <a:off x="9221724" y="42976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74" name="Text 43">
            <a:extLst>
              <a:ext uri="{FF2B5EF4-FFF2-40B4-BE49-F238E27FC236}">
                <a16:creationId xmlns:a16="http://schemas.microsoft.com/office/drawing/2014/main" id="{3279130A-FA9F-1E36-3A36-E2D1FACC8170}"/>
              </a:ext>
            </a:extLst>
          </p:cNvPr>
          <p:cNvSpPr/>
          <p:nvPr/>
        </p:nvSpPr>
        <p:spPr>
          <a:xfrm>
            <a:off x="9221724" y="4297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</a:t>
            </a:r>
            <a:endParaRPr lang="en-US" sz="1050" dirty="0"/>
          </a:p>
        </p:txBody>
      </p:sp>
      <p:sp>
        <p:nvSpPr>
          <p:cNvPr id="76" name="Shape 44">
            <a:extLst>
              <a:ext uri="{FF2B5EF4-FFF2-40B4-BE49-F238E27FC236}">
                <a16:creationId xmlns:a16="http://schemas.microsoft.com/office/drawing/2014/main" id="{C8087D55-10DD-590D-6708-85525C10D1F5}"/>
              </a:ext>
            </a:extLst>
          </p:cNvPr>
          <p:cNvSpPr/>
          <p:nvPr/>
        </p:nvSpPr>
        <p:spPr>
          <a:xfrm>
            <a:off x="10044684" y="42976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78" name="Text 45">
            <a:extLst>
              <a:ext uri="{FF2B5EF4-FFF2-40B4-BE49-F238E27FC236}">
                <a16:creationId xmlns:a16="http://schemas.microsoft.com/office/drawing/2014/main" id="{DC8351E2-A100-94DC-C664-FB4F2A18E780}"/>
              </a:ext>
            </a:extLst>
          </p:cNvPr>
          <p:cNvSpPr/>
          <p:nvPr/>
        </p:nvSpPr>
        <p:spPr>
          <a:xfrm>
            <a:off x="10044684" y="4297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데이터베이스 생성하기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16733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Databases 우클릭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95681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Databases 항목에 마우스 오른쪽 클릭합니다.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4963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 → Database... 선택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277977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메뉴에서 Create를 선택하면 하위 메뉴에 Database...가 나타납니다.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8992" y="331927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 이름 입력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8992" y="360273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 필드에 "sql-learn"을 입력합니다. Owner는 기본값(postgres)을 사용합니다.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78992" y="414223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 클릭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442569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 버튼을 클릭하면 트리에 sql-learn 데이터베이스가 생성됩니다.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DF"/>
          </a:solidFill>
          <a:ln w="12700">
            <a:solidFill>
              <a:srgbClr val="F0DFA0"/>
            </a:solidFill>
            <a:prstDash val="solid"/>
          </a:ln>
        </p:spPr>
      </p:sp>
      <p:pic>
        <p:nvPicPr>
          <p:cNvPr id="22" name="Image 0" descr="assets/icon_warning_E8B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239512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43000" y="51846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D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43000" y="545896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 이름의 하이픈(-)은 그대로 입력하면 됩니다. pgAdmin4가 필요 시 자동으로 큰따옴표(") 처리를 해줍니다.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7" name="Shape 24"/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8" name="Shape 25"/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9" name="Shape 26"/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30" name="Shape 27"/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31" name="Text 28"/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 4  —  Create - Database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212080" y="22037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D7E5FA"/>
          </a:solidFill>
          <a:ln/>
        </p:spPr>
      </p:sp>
      <p:pic>
        <p:nvPicPr>
          <p:cNvPr id="33" name="Image 1" descr="assets/icon_database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4084" y="2235708"/>
            <a:ext cx="137160" cy="13716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504688" y="215798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Servers ▸ PostgreSQL 16 ▸ Databases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394960" y="2615184"/>
            <a:ext cx="5897880" cy="3465576"/>
          </a:xfrm>
          <a:prstGeom prst="roundRect">
            <a:avLst>
              <a:gd name="adj" fmla="val 2111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5394960" y="2615184"/>
            <a:ext cx="5897880" cy="310896"/>
          </a:xfrm>
          <a:prstGeom prst="rect">
            <a:avLst/>
          </a:prstGeom>
          <a:solidFill>
            <a:srgbClr val="EAF1FC"/>
          </a:solidFill>
          <a:ln/>
        </p:spPr>
      </p:sp>
      <p:sp>
        <p:nvSpPr>
          <p:cNvPr id="37" name="Text 33"/>
          <p:cNvSpPr/>
          <p:nvPr/>
        </p:nvSpPr>
        <p:spPr>
          <a:xfrm>
            <a:off x="5532120" y="2615184"/>
            <a:ext cx="5623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 - Database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532120" y="29992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General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5532120" y="3273552"/>
            <a:ext cx="1005840" cy="0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583680" y="29992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Definition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7635240" y="29992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Security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5623560" y="34838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6629400" y="3483864"/>
            <a:ext cx="443484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6720840" y="348386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sql-learn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5623560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Owner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6629400" y="3895344"/>
            <a:ext cx="443484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720840" y="389534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623560" y="43068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Comment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6629400" y="4306824"/>
            <a:ext cx="443484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720840" y="43068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학습용 데이터베이스</a:t>
            </a:r>
            <a:endParaRPr lang="en-US" sz="1050" dirty="0"/>
          </a:p>
        </p:txBody>
      </p:sp>
      <p:sp>
        <p:nvSpPr>
          <p:cNvPr id="51" name="Shape 47"/>
          <p:cNvSpPr/>
          <p:nvPr/>
        </p:nvSpPr>
        <p:spPr>
          <a:xfrm>
            <a:off x="9555480" y="562356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9555480" y="5623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</a:t>
            </a:r>
            <a:endParaRPr lang="en-US" sz="1050" dirty="0"/>
          </a:p>
        </p:txBody>
      </p:sp>
      <p:sp>
        <p:nvSpPr>
          <p:cNvPr id="53" name="Shape 49"/>
          <p:cNvSpPr/>
          <p:nvPr/>
        </p:nvSpPr>
        <p:spPr>
          <a:xfrm>
            <a:off x="10378440" y="562356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10378440" y="5623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56" name="Text 52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6 / 18</a:t>
            </a:r>
            <a:endParaRPr lang="en-US" sz="900" dirty="0"/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0D5091C1-E30A-A4A1-6E67-2126830BB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288" y="4877005"/>
            <a:ext cx="3423104" cy="179096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F8116134-A337-EE04-8DB3-78E5856B8E07}"/>
              </a:ext>
            </a:extLst>
          </p:cNvPr>
          <p:cNvCxnSpPr>
            <a:cxnSpLocks/>
            <a:stCxn id="77" idx="6"/>
          </p:cNvCxnSpPr>
          <p:nvPr/>
        </p:nvCxnSpPr>
        <p:spPr>
          <a:xfrm flipV="1">
            <a:off x="7815408" y="4617721"/>
            <a:ext cx="898824" cy="96515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ACFB9678-7AEB-8658-4FEA-239798FFCCAD}"/>
              </a:ext>
            </a:extLst>
          </p:cNvPr>
          <p:cNvSpPr/>
          <p:nvPr/>
        </p:nvSpPr>
        <p:spPr>
          <a:xfrm>
            <a:off x="5504688" y="5577840"/>
            <a:ext cx="843645" cy="1737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55A09E0B-2199-A353-6CDF-01A55C1D17D5}"/>
              </a:ext>
            </a:extLst>
          </p:cNvPr>
          <p:cNvSpPr/>
          <p:nvPr/>
        </p:nvSpPr>
        <p:spPr>
          <a:xfrm>
            <a:off x="7506909" y="5437490"/>
            <a:ext cx="308499" cy="290766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79" name="Text 4">
            <a:extLst>
              <a:ext uri="{FF2B5EF4-FFF2-40B4-BE49-F238E27FC236}">
                <a16:creationId xmlns:a16="http://schemas.microsoft.com/office/drawing/2014/main" id="{0DB46675-24E3-D7A9-7544-F02F058DC5D8}"/>
              </a:ext>
            </a:extLst>
          </p:cNvPr>
          <p:cNvSpPr/>
          <p:nvPr/>
        </p:nvSpPr>
        <p:spPr>
          <a:xfrm>
            <a:off x="7469134" y="53855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Tool로 테이블 생성 준비하기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CREATE TABLE 문을 Query Tool에서 직접 실행해서 만듭니다. 다음 3장에 걸쳐 t_member, t_product, t_purchase_history 테이블을 순서대로 생성합니다.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222199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250545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방금 생성한 sql-learn 데이터베이스를 클릭해 선택합니다.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48640" y="3311816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1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32935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Tool 열기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78992" y="3576992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툴바의 Query Tool 아이콘을 클릭하거나, sql-learn을 우클릭 후 Query Tool을 선택합니다.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548640" y="4134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5" name="Shape 23"/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6" name="Shape 24"/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7" name="Shape 25"/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8" name="Text 26"/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 4  —  sql-learn/postgres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5212080" y="5806440"/>
            <a:ext cx="6263640" cy="365760"/>
          </a:xfrm>
          <a:prstGeom prst="rect">
            <a:avLst/>
          </a:prstGeom>
          <a:solidFill>
            <a:srgbClr val="E8F8F1"/>
          </a:solidFill>
          <a:ln/>
        </p:spPr>
      </p:sp>
      <p:sp>
        <p:nvSpPr>
          <p:cNvPr id="40" name="Text 36"/>
          <p:cNvSpPr/>
          <p:nvPr/>
        </p:nvSpPr>
        <p:spPr>
          <a:xfrm>
            <a:off x="5349240" y="5806440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D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returned successfully.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7 / 18</a:t>
            </a:r>
            <a:endParaRPr lang="en-US" sz="9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5766878A-AED9-4ADE-1672-32400E774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21572"/>
            <a:ext cx="2875437" cy="2546440"/>
          </a:xfrm>
          <a:prstGeom prst="rect">
            <a:avLst/>
          </a:prstGeom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EEAA79-371F-AD38-C317-45477936CF5C}"/>
              </a:ext>
            </a:extLst>
          </p:cNvPr>
          <p:cNvSpPr/>
          <p:nvPr/>
        </p:nvSpPr>
        <p:spPr>
          <a:xfrm>
            <a:off x="5943600" y="3517198"/>
            <a:ext cx="843645" cy="1737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7E3417-3FE8-788C-9A7E-0F16841326AF}"/>
              </a:ext>
            </a:extLst>
          </p:cNvPr>
          <p:cNvGrpSpPr/>
          <p:nvPr/>
        </p:nvGrpSpPr>
        <p:grpSpPr>
          <a:xfrm>
            <a:off x="6653725" y="3419856"/>
            <a:ext cx="384048" cy="384048"/>
            <a:chOff x="7447630" y="5367528"/>
            <a:chExt cx="384048" cy="384048"/>
          </a:xfrm>
        </p:grpSpPr>
        <p:sp>
          <p:nvSpPr>
            <p:cNvPr id="48" name="Shape 3">
              <a:extLst>
                <a:ext uri="{FF2B5EF4-FFF2-40B4-BE49-F238E27FC236}">
                  <a16:creationId xmlns:a16="http://schemas.microsoft.com/office/drawing/2014/main" id="{F953D65F-DCA5-6C6E-F87E-F7349EB32FA4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50" name="Text 4">
              <a:extLst>
                <a:ext uri="{FF2B5EF4-FFF2-40B4-BE49-F238E27FC236}">
                  <a16:creationId xmlns:a16="http://schemas.microsoft.com/office/drawing/2014/main" id="{FEFE8DC4-B7B8-2D85-E7E2-5040F8C1A37A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</a:t>
              </a:r>
              <a:endParaRPr lang="en-US" sz="1400" dirty="0"/>
            </a:p>
          </p:txBody>
        </p:sp>
      </p:grpSp>
      <p:pic>
        <p:nvPicPr>
          <p:cNvPr id="53" name="그림 52">
            <a:extLst>
              <a:ext uri="{FF2B5EF4-FFF2-40B4-BE49-F238E27FC236}">
                <a16:creationId xmlns:a16="http://schemas.microsoft.com/office/drawing/2014/main" id="{B6C548B6-FCDD-3A8C-6CDE-D36FCE0B0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9853" y="2162356"/>
            <a:ext cx="2872989" cy="2476715"/>
          </a:xfrm>
          <a:prstGeom prst="rect">
            <a:avLst/>
          </a:prstGeom>
        </p:spPr>
      </p:pic>
      <p:sp>
        <p:nvSpPr>
          <p:cNvPr id="55" name="화살표: 아래쪽 54">
            <a:extLst>
              <a:ext uri="{FF2B5EF4-FFF2-40B4-BE49-F238E27FC236}">
                <a16:creationId xmlns:a16="http://schemas.microsoft.com/office/drawing/2014/main" id="{EF75D7CB-E082-29A3-BCA5-71D01202AB86}"/>
              </a:ext>
            </a:extLst>
          </p:cNvPr>
          <p:cNvSpPr/>
          <p:nvPr/>
        </p:nvSpPr>
        <p:spPr>
          <a:xfrm rot="16200000">
            <a:off x="7172256" y="3348084"/>
            <a:ext cx="2037425" cy="283465"/>
          </a:xfrm>
          <a:prstGeom prst="downArrow">
            <a:avLst>
              <a:gd name="adj1" fmla="val 49129"/>
              <a:gd name="adj2" fmla="val 71923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69F30A6-5E66-0272-EFA0-B90C18817926}"/>
              </a:ext>
            </a:extLst>
          </p:cNvPr>
          <p:cNvSpPr/>
          <p:nvPr/>
        </p:nvSpPr>
        <p:spPr>
          <a:xfrm>
            <a:off x="9088664" y="3314744"/>
            <a:ext cx="843645" cy="1737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0672F3D0-A2A2-E82C-72D6-FB46C066EE15}"/>
              </a:ext>
            </a:extLst>
          </p:cNvPr>
          <p:cNvGrpSpPr/>
          <p:nvPr/>
        </p:nvGrpSpPr>
        <p:grpSpPr>
          <a:xfrm>
            <a:off x="9786137" y="3195828"/>
            <a:ext cx="384048" cy="384048"/>
            <a:chOff x="7447630" y="5367528"/>
            <a:chExt cx="384048" cy="384048"/>
          </a:xfrm>
        </p:grpSpPr>
        <p:sp>
          <p:nvSpPr>
            <p:cNvPr id="61" name="Shape 3">
              <a:extLst>
                <a:ext uri="{FF2B5EF4-FFF2-40B4-BE49-F238E27FC236}">
                  <a16:creationId xmlns:a16="http://schemas.microsoft.com/office/drawing/2014/main" id="{9D723C00-52DA-D796-5B46-A6A5AF58F446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62" name="Text 4">
              <a:extLst>
                <a:ext uri="{FF2B5EF4-FFF2-40B4-BE49-F238E27FC236}">
                  <a16:creationId xmlns:a16="http://schemas.microsoft.com/office/drawing/2014/main" id="{9C30C787-E11E-6007-8D9E-2B168B791715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880FE-61B8-1095-BFEA-D57A80FD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E6CE0EE-17A4-87AF-ADE6-4913E3798A31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99D35F-0882-EEB8-0391-7D8DD253A94B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26AE12-35A3-660D-8ACF-6C999D8C9621}"/>
              </a:ext>
            </a:extLst>
          </p:cNvPr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Tool로 테이블 생성 준비하기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544FFF-BFBD-AE91-C3C7-5D80A1DF096D}"/>
              </a:ext>
            </a:extLst>
          </p:cNvPr>
          <p:cNvSpPr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CREATE TABLE 문을 Query Tool에서 직접 실행해서 만듭니다. 다음 3장에 걸쳐 t_member, t_product, t_purchase_history 테이블을 순서대로 생성합니다.</a:t>
            </a:r>
            <a:endParaRPr lang="en-US" sz="12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D3225DA-F0A4-E548-1B0E-AB9A1181C7EC}"/>
              </a:ext>
            </a:extLst>
          </p:cNvPr>
          <p:cNvSpPr/>
          <p:nvPr/>
        </p:nvSpPr>
        <p:spPr>
          <a:xfrm>
            <a:off x="548640" y="2456895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9A7C6F-E5D8-908B-D741-DF64D3714CE6}"/>
              </a:ext>
            </a:extLst>
          </p:cNvPr>
          <p:cNvSpPr/>
          <p:nvPr/>
        </p:nvSpPr>
        <p:spPr>
          <a:xfrm>
            <a:off x="548640" y="24568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BECD724-0538-A5E8-6DCD-5D9BF6147E77}"/>
              </a:ext>
            </a:extLst>
          </p:cNvPr>
          <p:cNvSpPr/>
          <p:nvPr/>
        </p:nvSpPr>
        <p:spPr>
          <a:xfrm>
            <a:off x="1078992" y="2438607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작성 및 실행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E2754B-E5B3-A03D-E78B-E7DC4DDD55F3}"/>
              </a:ext>
            </a:extLst>
          </p:cNvPr>
          <p:cNvSpPr/>
          <p:nvPr/>
        </p:nvSpPr>
        <p:spPr>
          <a:xfrm>
            <a:off x="1078992" y="2722071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편집창에 CREATE TABLE 문을 붙여넣고, Execute(▶) 버튼 또는 F5 키로 실행합니다.</a:t>
            </a:r>
            <a:endParaRPr lang="en-US" sz="108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3B046D9-E36F-C33E-1B1D-4F30B4D6E933}"/>
              </a:ext>
            </a:extLst>
          </p:cNvPr>
          <p:cNvSpPr/>
          <p:nvPr/>
        </p:nvSpPr>
        <p:spPr>
          <a:xfrm>
            <a:off x="548640" y="3705984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8C9525B-7936-6E31-FEC1-1A9E30BD389E}"/>
              </a:ext>
            </a:extLst>
          </p:cNvPr>
          <p:cNvSpPr/>
          <p:nvPr/>
        </p:nvSpPr>
        <p:spPr>
          <a:xfrm>
            <a:off x="548640" y="3705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4B2439A-258C-E5F4-9141-BC1025F8AAC4}"/>
              </a:ext>
            </a:extLst>
          </p:cNvPr>
          <p:cNvSpPr/>
          <p:nvPr/>
        </p:nvSpPr>
        <p:spPr>
          <a:xfrm>
            <a:off x="1078992" y="36876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결과 확인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CA572A0-6692-19C0-FDDF-8364EFC51551}"/>
              </a:ext>
            </a:extLst>
          </p:cNvPr>
          <p:cNvSpPr/>
          <p:nvPr/>
        </p:nvSpPr>
        <p:spPr>
          <a:xfrm>
            <a:off x="1078992" y="39711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"Query returned successfully" 메시지가 나오면 테이블이 정상 생성된 것입니다.</a:t>
            </a:r>
            <a:endParaRPr lang="en-US" sz="108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1D029652-E06F-4A56-9000-8417B8F2A797}"/>
              </a:ext>
            </a:extLst>
          </p:cNvPr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1E17D6-EA76-4BCC-1EB6-737082022AB5}"/>
              </a:ext>
            </a:extLst>
          </p:cNvPr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306240F-8519-0A2D-6098-D1BCD511BCD4}"/>
              </a:ext>
            </a:extLst>
          </p:cNvPr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086FBDB-23E4-EEDC-6EAD-55BEABF1FB95}"/>
              </a:ext>
            </a:extLst>
          </p:cNvPr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D6EAA88-99F5-6FF5-088F-023196273C8A}"/>
              </a:ext>
            </a:extLst>
          </p:cNvPr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C5A73617-B46F-C3C6-78C1-5713678ACA84}"/>
              </a:ext>
            </a:extLst>
          </p:cNvPr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9305D9A-652C-571C-F657-56192C3101EF}"/>
              </a:ext>
            </a:extLst>
          </p:cNvPr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 4  —  sql-learn/postgres</a:t>
            </a:r>
            <a:endParaRPr lang="en-US" sz="1050" dirty="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B9F827D7-0BF1-BEB0-1C53-469C279CC7DD}"/>
              </a:ext>
            </a:extLst>
          </p:cNvPr>
          <p:cNvSpPr/>
          <p:nvPr/>
        </p:nvSpPr>
        <p:spPr>
          <a:xfrm>
            <a:off x="5212080" y="5806440"/>
            <a:ext cx="6263640" cy="365760"/>
          </a:xfrm>
          <a:prstGeom prst="rect">
            <a:avLst/>
          </a:prstGeom>
          <a:solidFill>
            <a:srgbClr val="E8F8F1"/>
          </a:solidFill>
          <a:ln/>
        </p:spPr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6773EBAB-08E1-1AF1-A994-6FEAF8D80210}"/>
              </a:ext>
            </a:extLst>
          </p:cNvPr>
          <p:cNvSpPr/>
          <p:nvPr/>
        </p:nvSpPr>
        <p:spPr>
          <a:xfrm>
            <a:off x="5349240" y="5806440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D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returned successfully.</a:t>
            </a:r>
            <a:endParaRPr lang="en-US" sz="950" dirty="0"/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2D9620DB-2776-7BF4-2215-8E1B31DA85DC}"/>
              </a:ext>
            </a:extLst>
          </p:cNvPr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BA70CF70-594C-B06E-17C0-65E277707F7A}"/>
              </a:ext>
            </a:extLst>
          </p:cNvPr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7 / 18</a:t>
            </a:r>
            <a:endParaRPr lang="en-US" sz="90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33E98E3-CA82-1765-0EC8-FC919C565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221992"/>
            <a:ext cx="5524197" cy="3451125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8AD3AB9C-338B-2014-B16E-91C6D5D85FBD}"/>
              </a:ext>
            </a:extLst>
          </p:cNvPr>
          <p:cNvSpPr/>
          <p:nvPr/>
        </p:nvSpPr>
        <p:spPr>
          <a:xfrm>
            <a:off x="9232856" y="2933765"/>
            <a:ext cx="265491" cy="2912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97E4C42-91F4-68C7-6A1C-F1B4D8DDE5D5}"/>
              </a:ext>
            </a:extLst>
          </p:cNvPr>
          <p:cNvGrpSpPr/>
          <p:nvPr/>
        </p:nvGrpSpPr>
        <p:grpSpPr>
          <a:xfrm>
            <a:off x="9173577" y="3032967"/>
            <a:ext cx="384048" cy="384048"/>
            <a:chOff x="7447630" y="5367528"/>
            <a:chExt cx="384048" cy="384048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504FD62D-8D91-8224-AC1B-1F642D71BEDD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38" name="Text 4">
              <a:extLst>
                <a:ext uri="{FF2B5EF4-FFF2-40B4-BE49-F238E27FC236}">
                  <a16:creationId xmlns:a16="http://schemas.microsoft.com/office/drawing/2014/main" id="{5CC63FCD-A83D-E22F-794A-92CD1E289E41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3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71653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 (회원) 테이블 생성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6" name="Image 0" descr="assets/icon_table_2F6F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67335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t_member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43000" y="181051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회원정보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23317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70632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2660904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member_id를 기본키(PRIMARY KEY)로 사용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548640" y="3337560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3227832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member_gender는 'M' 또는 'F'만 허용 (CHECK)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48640" y="3904488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" y="379476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user_yn 기본값 'Y', membership_level 기본값 '00'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548640" y="4471416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7" name="Text 14"/>
          <p:cNvSpPr/>
          <p:nvPr/>
        </p:nvSpPr>
        <p:spPr>
          <a:xfrm>
            <a:off x="749808" y="4361688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날짜값(YYYYMMDD)은 VARCHAR로 저장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548640" y="489204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0B1A3D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056632"/>
            <a:ext cx="37033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회원ID(영문,숫자 6~20자리)</a:t>
            </a:r>
            <a:endParaRPr lang="en-US" sz="100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회원등급 00~10, 성별 M/F</a:t>
            </a:r>
            <a:endParaRPr lang="en-US" sz="100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사용여부 Y/N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892040" y="155448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0B1A3D"/>
          </a:solidFill>
          <a:ln/>
        </p:spPr>
      </p:sp>
      <p:sp>
        <p:nvSpPr>
          <p:cNvPr id="21" name="Text 18"/>
          <p:cNvSpPr/>
          <p:nvPr/>
        </p:nvSpPr>
        <p:spPr>
          <a:xfrm>
            <a:off x="5120640" y="1719072"/>
            <a:ext cx="6263640" cy="442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t_member (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member_id        VARCHAR(20)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member_name      VARCHAR(30)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         VARCHAR(20)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member_email     VARCHAR(20),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membership_date  VARCHAR(8) 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membership_level VARCHAR(2)  NOT NULL DEFAULT '00',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birth_date       VARCHAR(8),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member_gender    VARCHAR(1),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user_yn          VARCHAR(1)  NOT NULL DEFAULT 'Y',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pk_t_member PRIMARY KEY (member_id),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ck_t_member_gender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 (member_gender IN ('M','F')),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ck_t_member_useryn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 (user_yn IN ('Y','N'))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3-1 · 테이블 생성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8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t_product (상품) 테이블 생성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6" name="Image 0" descr="assets/icon_table_2F6F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67335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t_product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43000" y="181051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상품정보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23317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70632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2660904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product_id를 기본키(PRIMARY KEY)로 사용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548640" y="3337560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3227832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product_price는 0 이상의 값만 허용 (CHECK)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48640" y="3904488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" y="379476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sales_status는 'Y'(판매) 또는 'N'(판매종료)만 허용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548640" y="4471416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7" name="Text 14"/>
          <p:cNvSpPr/>
          <p:nvPr/>
        </p:nvSpPr>
        <p:spPr>
          <a:xfrm>
            <a:off x="749808" y="4361688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sales_status 기본값은 'Y'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548640" y="489204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0B1A3D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056632"/>
            <a:ext cx="37033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상품ID(2~20자리)</a:t>
            </a:r>
            <a:endParaRPr lang="en-US" sz="100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가격: 정수 8자리, 소수 2자리</a:t>
            </a:r>
            <a:endParaRPr lang="en-US" sz="100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판매여부 Y(판매)/N(판매종료)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892040" y="155448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0B1A3D"/>
          </a:solidFill>
          <a:ln/>
        </p:spPr>
      </p:sp>
      <p:sp>
        <p:nvSpPr>
          <p:cNvPr id="21" name="Text 18"/>
          <p:cNvSpPr/>
          <p:nvPr/>
        </p:nvSpPr>
        <p:spPr>
          <a:xfrm>
            <a:off x="5120640" y="1719072"/>
            <a:ext cx="6263640" cy="442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t_product (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product_id     VARCHAR(20)  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product_name   VARCHAR(100) 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product_price  NUMERIC(10,2)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sales_status   VARCHAR(1)    NOT NULL DEFAULT 'Y',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pk_t_product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PRIMARY KEY (product_id),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ck_t_product_sales_status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 (sales_status IN ('Y','N')),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ck_t_product_price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 (product_price &gt;= 0)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3-2 · 테이블 생성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9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t_purchase_history (구매이력) 테이블 생성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6" name="Image 0" descr="assets/icon_table_2F6F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67335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t_purchase_history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43000" y="181051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구매이력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23317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70632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2660904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sales_id(판매번호)를 기본키로 사용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548640" y="3337560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3227832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member_id, product_id로 회원·상품 데이터를 참조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48640" y="3904488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" y="379476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payment_method는 '00'/'01'/'02' 중 하나만 허용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548640" y="4471416"/>
            <a:ext cx="82296" cy="82296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7" name="Text 14"/>
          <p:cNvSpPr/>
          <p:nvPr/>
        </p:nvSpPr>
        <p:spPr>
          <a:xfrm>
            <a:off x="749808" y="4361688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sales_id는 YYYYMMDD + 일련번호 5자리(총 13자리)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548640" y="489204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0B1A3D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056632"/>
            <a:ext cx="37033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판매번호: YYYYMMDD+5자리 자동증가</a:t>
            </a:r>
            <a:endParaRPr lang="en-US" sz="100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결제방식 00:카드 01:무통장 02:포인트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892040" y="155448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0B1A3D"/>
          </a:solidFill>
          <a:ln/>
        </p:spPr>
      </p:sp>
      <p:sp>
        <p:nvSpPr>
          <p:cNvPr id="21" name="Text 18"/>
          <p:cNvSpPr/>
          <p:nvPr/>
        </p:nvSpPr>
        <p:spPr>
          <a:xfrm>
            <a:off x="5120640" y="1719072"/>
            <a:ext cx="6263640" cy="442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t_purchase_history (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sales_id        VARCHAR(13)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member_id       VARCHAR(20)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product_id      VARCHAR(20)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purchase_date   VARCHAR(8) 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payment_method  VARCHAR(2)  NOT NULL,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pk_t_purchase_history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PRIMARY KEY (sales_id),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F7D7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CONSTRAINT ck_purchase_payment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D7E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 (payment_method IN ('00','01','02'))</a:t>
            </a:r>
            <a:endParaRPr lang="en-US" sz="1250" dirty="0"/>
          </a:p>
          <a:p>
            <a:pPr marL="0" indent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dirty="0">
                <a:solidFill>
                  <a:srgbClr val="8FB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3-3 · 테이블 생성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10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E867-97D9-5482-AC42-9028EFC73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C5196D-115D-3258-164D-986551F8D15B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8E67729-D1D7-C868-40CD-5E8CC7FEF853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3-4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71A5D6-EB06-13C1-0C55-1797B3377C97}"/>
              </a:ext>
            </a:extLst>
          </p:cNvPr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 확인하기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8675C9F-D30B-FF85-8C8F-3C1C55EC8C42}"/>
              </a:ext>
            </a:extLst>
          </p:cNvPr>
          <p:cNvSpPr/>
          <p:nvPr/>
        </p:nvSpPr>
        <p:spPr>
          <a:xfrm>
            <a:off x="548640" y="1269271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r>
              <a:rPr lang="ko-KR" alt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테이블이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t_product, </a:t>
            </a:r>
            <a:r>
              <a:rPr lang="en-US" sz="125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t_purchase_history</a:t>
            </a:r>
            <a:r>
              <a:rPr 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생성되었는지 확인</a:t>
            </a:r>
            <a:endParaRPr lang="en-US" sz="12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568A741-5326-2E11-8329-B4B76F9FC76A}"/>
              </a:ext>
            </a:extLst>
          </p:cNvPr>
          <p:cNvSpPr/>
          <p:nvPr/>
        </p:nvSpPr>
        <p:spPr>
          <a:xfrm>
            <a:off x="548640" y="2456895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050A48A-E5F0-3EA2-3507-5EF86724DB80}"/>
              </a:ext>
            </a:extLst>
          </p:cNvPr>
          <p:cNvSpPr/>
          <p:nvPr/>
        </p:nvSpPr>
        <p:spPr>
          <a:xfrm>
            <a:off x="548640" y="24568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433337D-ECA0-9241-3FA7-6CD583EEB04F}"/>
              </a:ext>
            </a:extLst>
          </p:cNvPr>
          <p:cNvSpPr/>
          <p:nvPr/>
        </p:nvSpPr>
        <p:spPr>
          <a:xfrm>
            <a:off x="1078992" y="2438607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Schemas </a:t>
            </a:r>
            <a:r>
              <a:rPr lang="ko-KR" alt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12C8758-DFFC-BABE-1F35-E4F60BEDBF79}"/>
              </a:ext>
            </a:extLst>
          </p:cNvPr>
          <p:cNvSpPr/>
          <p:nvPr/>
        </p:nvSpPr>
        <p:spPr>
          <a:xfrm>
            <a:off x="1078992" y="2722071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</a:t>
            </a:r>
            <a:r>
              <a:rPr lang="en-US" sz="108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-learn Databases </a:t>
            </a:r>
            <a:r>
              <a:rPr lang="ko-KR" alt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</a:t>
            </a:r>
            <a:r>
              <a:rPr lang="en-US" altLang="ko-KR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Schemas(1) </a:t>
            </a:r>
            <a:r>
              <a:rPr lang="ko-KR" alt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</a:t>
            </a:r>
            <a:r>
              <a:rPr lang="en-US" altLang="ko-KR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Tables(3) </a:t>
            </a:r>
            <a:r>
              <a:rPr lang="ko-KR" alt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08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14A0BA0C-110C-C17E-8D6B-5EE3DEFDBDC2}"/>
              </a:ext>
            </a:extLst>
          </p:cNvPr>
          <p:cNvSpPr/>
          <p:nvPr/>
        </p:nvSpPr>
        <p:spPr>
          <a:xfrm>
            <a:off x="548640" y="3705984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F415B86-4404-513A-A38B-CD630ADB0A4F}"/>
              </a:ext>
            </a:extLst>
          </p:cNvPr>
          <p:cNvSpPr/>
          <p:nvPr/>
        </p:nvSpPr>
        <p:spPr>
          <a:xfrm>
            <a:off x="548640" y="3705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F874757-CB0D-2137-6D95-72DE64DAD0A9}"/>
              </a:ext>
            </a:extLst>
          </p:cNvPr>
          <p:cNvSpPr/>
          <p:nvPr/>
        </p:nvSpPr>
        <p:spPr>
          <a:xfrm>
            <a:off x="1078992" y="36876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Tables </a:t>
            </a:r>
            <a:r>
              <a:rPr lang="ko-KR" alt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0B4AE83-1B3B-049F-FB67-2C84F320DBB9}"/>
              </a:ext>
            </a:extLst>
          </p:cNvPr>
          <p:cNvSpPr/>
          <p:nvPr/>
        </p:nvSpPr>
        <p:spPr>
          <a:xfrm>
            <a:off x="1078992" y="39711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</a:t>
            </a: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08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t_product</a:t>
            </a: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080" dirty="0" err="1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t_purchase</a:t>
            </a: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history </a:t>
            </a:r>
            <a:r>
              <a:rPr lang="ko-KR" alt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확인</a:t>
            </a:r>
            <a:endParaRPr lang="en-US" sz="108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5CA937D-3A86-A18F-5E88-BC489416A556}"/>
              </a:ext>
            </a:extLst>
          </p:cNvPr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7163979-9655-7EAA-59FA-F43AD9E80474}"/>
              </a:ext>
            </a:extLst>
          </p:cNvPr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6E42473-0624-7822-DCE7-17E0D8819475}"/>
              </a:ext>
            </a:extLst>
          </p:cNvPr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03547B9-B15F-0AB1-F69C-B4F49FB54742}"/>
              </a:ext>
            </a:extLst>
          </p:cNvPr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16D2F3F-0D97-A37A-B9C0-4EECECE59D0E}"/>
              </a:ext>
            </a:extLst>
          </p:cNvPr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FA00C76-E1B9-CBAE-4691-C8E4F1E39C0A}"/>
              </a:ext>
            </a:extLst>
          </p:cNvPr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C344C9B-DFC6-624E-4B1D-203A8E46BF4A}"/>
              </a:ext>
            </a:extLst>
          </p:cNvPr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 4  —  sql-learn/postgres</a:t>
            </a:r>
            <a:endParaRPr lang="en-US" sz="1050" dirty="0"/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6DB8AD0E-8E22-DCDA-39F1-4E5E16D38046}"/>
              </a:ext>
            </a:extLst>
          </p:cNvPr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25DA0AB5-8AEC-18EE-F01B-1A31A25A8126}"/>
              </a:ext>
            </a:extLst>
          </p:cNvPr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7 / 18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52B2533-C530-258A-4967-312D3863A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108619"/>
            <a:ext cx="1864823" cy="401986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36107B-F8DE-9569-1A7F-FD12CEDEF67F}"/>
              </a:ext>
            </a:extLst>
          </p:cNvPr>
          <p:cNvSpPr/>
          <p:nvPr/>
        </p:nvSpPr>
        <p:spPr>
          <a:xfrm>
            <a:off x="6150488" y="3252074"/>
            <a:ext cx="825078" cy="192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BFEF74C-BED9-6861-0065-3175AAA60071}"/>
              </a:ext>
            </a:extLst>
          </p:cNvPr>
          <p:cNvGrpSpPr/>
          <p:nvPr/>
        </p:nvGrpSpPr>
        <p:grpSpPr>
          <a:xfrm>
            <a:off x="6939366" y="3191256"/>
            <a:ext cx="384048" cy="384048"/>
            <a:chOff x="7447630" y="5367528"/>
            <a:chExt cx="384048" cy="384048"/>
          </a:xfrm>
        </p:grpSpPr>
        <p:sp>
          <p:nvSpPr>
            <p:cNvPr id="11" name="Shape 3">
              <a:extLst>
                <a:ext uri="{FF2B5EF4-FFF2-40B4-BE49-F238E27FC236}">
                  <a16:creationId xmlns:a16="http://schemas.microsoft.com/office/drawing/2014/main" id="{D6F50662-B938-8907-2EFC-12CE8E638FCF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12" name="Text 4">
              <a:extLst>
                <a:ext uri="{FF2B5EF4-FFF2-40B4-BE49-F238E27FC236}">
                  <a16:creationId xmlns:a16="http://schemas.microsoft.com/office/drawing/2014/main" id="{21CE0D85-695F-E22A-0E52-FED463CD93C3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</a:t>
              </a:r>
              <a:endParaRPr lang="en-US" sz="1400" dirty="0"/>
            </a:p>
          </p:txBody>
        </p:sp>
      </p:grp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98C9DE-23D1-654A-E80D-63281C67ABB4}"/>
              </a:ext>
            </a:extLst>
          </p:cNvPr>
          <p:cNvSpPr/>
          <p:nvPr/>
        </p:nvSpPr>
        <p:spPr>
          <a:xfrm>
            <a:off x="6306311" y="5479570"/>
            <a:ext cx="1183059" cy="680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0B8AB5-4538-4645-3541-0061DA22127F}"/>
              </a:ext>
            </a:extLst>
          </p:cNvPr>
          <p:cNvGrpSpPr/>
          <p:nvPr/>
        </p:nvGrpSpPr>
        <p:grpSpPr>
          <a:xfrm>
            <a:off x="7425362" y="5608113"/>
            <a:ext cx="384048" cy="384048"/>
            <a:chOff x="7447630" y="5367528"/>
            <a:chExt cx="384048" cy="384048"/>
          </a:xfrm>
        </p:grpSpPr>
        <p:sp>
          <p:nvSpPr>
            <p:cNvPr id="31" name="Shape 3">
              <a:extLst>
                <a:ext uri="{FF2B5EF4-FFF2-40B4-BE49-F238E27FC236}">
                  <a16:creationId xmlns:a16="http://schemas.microsoft.com/office/drawing/2014/main" id="{A90ADA5C-00D4-0F1F-BA70-EB2822E25BFD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7D3491E4-9CA4-523D-55F3-7D1E1546C5CF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08809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업로드용 CSV 파일 준비 규칙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 전에 아래 5가지 규칙을 CSV 파일에 미리 적용해두면 오류 없이 한 번에 업로드할 수 있습니다.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402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8" name="Image 0" descr="assets/icon_csv_2F6F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3591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인코딩은 UTF-8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325880" y="24963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한글이 포함되므로 파일 저장 시 인코딩을 반드시 UTF-8로 지정합니다. (엑셀은 'CSV UTF-8' 형식으로 저장)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80760" y="2057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63640" y="22402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13" name="Image 1" descr="assets/icon_list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35915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5800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줄은 헤더(컬럼명)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858000" y="24963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1행에 컬럼명을 테이블 정의 순서와 동일하게 입력합니다. Import 시 Header 옵션을 'Yes'로 설정합니다.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4290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6118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18" name="Image 2" descr="assets/icon_key_2F6F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73075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문자열(YYYYMMDD)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325880" y="38679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membership_date, birth_date, purchase_date는 모두 8자리 문자로 저장합니다. (예: 20260113)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080760" y="34290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63640" y="36118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23" name="Image 3" descr="assets/icon_check_2F6F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73075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58000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코드값은 정의된 값만 사용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0" y="38679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member_gender(M/F), user_yn(Y/N), sales_status(Y/N), payment_method(00/01/02) 값만 입력합니다.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48640" y="48006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49834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28" name="Image 4" descr="assets/icon_table_2F6F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" y="5102352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325880" y="49377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구분자는 쉼표(,)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1325880" y="52395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 구분자는 콤마를 사용하고, 값에 콤마가 포함되면 큰따옴표(")로 묶어줍니다.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80760" y="48006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6263640" y="49834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AF1FC"/>
          </a:solidFill>
          <a:ln/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pic>
        <p:nvPicPr>
          <p:cNvPr id="33" name="Image 5" descr="assets/icon_database_2F6F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2512" y="5102352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858000" y="49377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값은 그대로 비워두기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858000" y="52395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member_email, birth_date, member_gender처럼 NULL 허용 컬럼은 값이 없으면 빈 칸으로 둡니다.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11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기능 사용법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16733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우클릭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95681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▸ Schemas ▸ public ▸ Tables에서 업로드할 테이블을 우클릭합니다.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4963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Data... 선택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8992" y="277977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메뉴에서 Import/Export Data...를 클릭하면 대화상자가 열립니다.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5074920" y="1691640"/>
            <a:ext cx="653796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7" name="Shape 25"/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8" name="Shape 26"/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9" name="Shape 27"/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30" name="Shape 28"/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31" name="Text 29"/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— t_member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0" y="2157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12 / 18</a:t>
            </a:r>
            <a:endParaRPr lang="en-US" sz="9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F7560FC1-4080-9877-DF52-04D9D55CE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109435"/>
            <a:ext cx="4110446" cy="4199682"/>
          </a:xfrm>
          <a:prstGeom prst="rect">
            <a:avLst/>
          </a:prstGeom>
        </p:spPr>
      </p:pic>
      <p:grpSp>
        <p:nvGrpSpPr>
          <p:cNvPr id="63" name="그룹 62">
            <a:extLst>
              <a:ext uri="{FF2B5EF4-FFF2-40B4-BE49-F238E27FC236}">
                <a16:creationId xmlns:a16="http://schemas.microsoft.com/office/drawing/2014/main" id="{964F3F70-9110-4307-172D-FA6E0EAE2D3E}"/>
              </a:ext>
            </a:extLst>
          </p:cNvPr>
          <p:cNvGrpSpPr/>
          <p:nvPr/>
        </p:nvGrpSpPr>
        <p:grpSpPr>
          <a:xfrm>
            <a:off x="7580376" y="4718304"/>
            <a:ext cx="384048" cy="384048"/>
            <a:chOff x="7447630" y="5367528"/>
            <a:chExt cx="384048" cy="384048"/>
          </a:xfrm>
        </p:grpSpPr>
        <p:sp>
          <p:nvSpPr>
            <p:cNvPr id="64" name="Shape 3">
              <a:extLst>
                <a:ext uri="{FF2B5EF4-FFF2-40B4-BE49-F238E27FC236}">
                  <a16:creationId xmlns:a16="http://schemas.microsoft.com/office/drawing/2014/main" id="{14979385-7C65-A99F-6D3B-F6AF7908B807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65" name="Text 4">
              <a:extLst>
                <a:ext uri="{FF2B5EF4-FFF2-40B4-BE49-F238E27FC236}">
                  <a16:creationId xmlns:a16="http://schemas.microsoft.com/office/drawing/2014/main" id="{8D75A457-CE69-AC81-7C3D-91DED17CFDAD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</a:t>
              </a:r>
              <a:endParaRPr lang="en-US" sz="1400" dirty="0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40EFDC54-6B21-350B-7E18-3C9E7EE7E580}"/>
              </a:ext>
            </a:extLst>
          </p:cNvPr>
          <p:cNvGrpSpPr/>
          <p:nvPr/>
        </p:nvGrpSpPr>
        <p:grpSpPr>
          <a:xfrm>
            <a:off x="9025999" y="3337560"/>
            <a:ext cx="384048" cy="384048"/>
            <a:chOff x="7447630" y="5367528"/>
            <a:chExt cx="384048" cy="384048"/>
          </a:xfrm>
        </p:grpSpPr>
        <p:sp>
          <p:nvSpPr>
            <p:cNvPr id="67" name="Shape 3">
              <a:extLst>
                <a:ext uri="{FF2B5EF4-FFF2-40B4-BE49-F238E27FC236}">
                  <a16:creationId xmlns:a16="http://schemas.microsoft.com/office/drawing/2014/main" id="{1AD25030-42F2-4EA5-4572-CB5445745520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68" name="Text 4">
              <a:extLst>
                <a:ext uri="{FF2B5EF4-FFF2-40B4-BE49-F238E27FC236}">
                  <a16:creationId xmlns:a16="http://schemas.microsoft.com/office/drawing/2014/main" id="{E5342E29-C7AD-2CB6-1F0A-0BC7F8438AD2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060E4-4D15-F1A3-4F64-13E27DF6D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68CFAF-AC29-08BE-3EBB-0F08CADAE2FB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F8A781-1571-424F-3BCE-EA0D541B5943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6B8173-4536-F560-CA24-1071914E206A}"/>
              </a:ext>
            </a:extLst>
          </p:cNvPr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기능 사용법</a:t>
            </a:r>
            <a:endParaRPr lang="en-US" sz="2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E955154-781E-44AD-92E1-2FC37EB98AA7}"/>
              </a:ext>
            </a:extLst>
          </p:cNvPr>
          <p:cNvSpPr/>
          <p:nvPr/>
        </p:nvSpPr>
        <p:spPr>
          <a:xfrm>
            <a:off x="548640" y="1787439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78F3BB-BDCA-997F-59FC-FADA5BB95CAD}"/>
              </a:ext>
            </a:extLst>
          </p:cNvPr>
          <p:cNvSpPr/>
          <p:nvPr/>
        </p:nvSpPr>
        <p:spPr>
          <a:xfrm>
            <a:off x="548640" y="17874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4B075D0-85A1-19A4-1580-E6D0B866E483}"/>
              </a:ext>
            </a:extLst>
          </p:cNvPr>
          <p:cNvSpPr/>
          <p:nvPr/>
        </p:nvSpPr>
        <p:spPr>
          <a:xfrm>
            <a:off x="1078992" y="1769151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General 탭 설정</a:t>
            </a:r>
            <a:endParaRPr lang="en-US" sz="13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79199A6-2158-CC63-F9BC-51C124F08A31}"/>
              </a:ext>
            </a:extLst>
          </p:cNvPr>
          <p:cNvSpPr/>
          <p:nvPr/>
        </p:nvSpPr>
        <p:spPr>
          <a:xfrm>
            <a:off x="1078992" y="2052615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상단 스위치를 Import로 두고, Filename에 CSV 경로를, Format은 csv, Encoding은 UTF8로 지정합니다.</a:t>
            </a:r>
            <a:endParaRPr lang="en-US" sz="108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05B6BB48-1A7B-1DB6-BA27-78EBF5992CFE}"/>
              </a:ext>
            </a:extLst>
          </p:cNvPr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CCCE0A21-4185-5F35-5129-476F58B9D414}"/>
              </a:ext>
            </a:extLst>
          </p:cNvPr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12 / 18</a:t>
            </a:r>
            <a:endParaRPr lang="en-US" sz="900" dirty="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F9A60FB5-4DC1-447A-9426-BA975EF11BD8}"/>
              </a:ext>
            </a:extLst>
          </p:cNvPr>
          <p:cNvSpPr/>
          <p:nvPr/>
        </p:nvSpPr>
        <p:spPr>
          <a:xfrm>
            <a:off x="5074920" y="1691640"/>
            <a:ext cx="653796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66" name="Shape 24">
            <a:extLst>
              <a:ext uri="{FF2B5EF4-FFF2-40B4-BE49-F238E27FC236}">
                <a16:creationId xmlns:a16="http://schemas.microsoft.com/office/drawing/2014/main" id="{A6293798-C05A-6888-755E-DB30DC605784}"/>
              </a:ext>
            </a:extLst>
          </p:cNvPr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54A4382A-4822-08AE-DAC2-CC3C1167D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79" y="2167128"/>
            <a:ext cx="5467829" cy="4169429"/>
          </a:xfrm>
          <a:prstGeom prst="rect">
            <a:avLst/>
          </a:prstGeom>
        </p:spPr>
      </p:pic>
      <p:grpSp>
        <p:nvGrpSpPr>
          <p:cNvPr id="77" name="그룹 76">
            <a:extLst>
              <a:ext uri="{FF2B5EF4-FFF2-40B4-BE49-F238E27FC236}">
                <a16:creationId xmlns:a16="http://schemas.microsoft.com/office/drawing/2014/main" id="{1EE9F782-D6CD-69A3-1BDF-69118BDB8707}"/>
              </a:ext>
            </a:extLst>
          </p:cNvPr>
          <p:cNvGrpSpPr/>
          <p:nvPr/>
        </p:nvGrpSpPr>
        <p:grpSpPr>
          <a:xfrm>
            <a:off x="6596308" y="2926080"/>
            <a:ext cx="384048" cy="384048"/>
            <a:chOff x="7447630" y="5367528"/>
            <a:chExt cx="384048" cy="384048"/>
          </a:xfrm>
        </p:grpSpPr>
        <p:sp>
          <p:nvSpPr>
            <p:cNvPr id="78" name="Shape 3">
              <a:extLst>
                <a:ext uri="{FF2B5EF4-FFF2-40B4-BE49-F238E27FC236}">
                  <a16:creationId xmlns:a16="http://schemas.microsoft.com/office/drawing/2014/main" id="{5E1F34A2-2DB1-9401-F925-5A5212CB7324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79" name="Text 4">
              <a:extLst>
                <a:ext uri="{FF2B5EF4-FFF2-40B4-BE49-F238E27FC236}">
                  <a16:creationId xmlns:a16="http://schemas.microsoft.com/office/drawing/2014/main" id="{3F5F735B-03BD-2008-296C-30BFBFC883E8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3</a:t>
              </a:r>
              <a:endParaRPr lang="en-US" sz="1400" dirty="0"/>
            </a:p>
          </p:txBody>
        </p:sp>
      </p:grp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CE51EF9-557C-37FF-755A-D3507F9C92A7}"/>
              </a:ext>
            </a:extLst>
          </p:cNvPr>
          <p:cNvSpPr/>
          <p:nvPr/>
        </p:nvSpPr>
        <p:spPr>
          <a:xfrm>
            <a:off x="7393577" y="3227832"/>
            <a:ext cx="2952206" cy="2743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말풍선: 사각형 81">
            <a:extLst>
              <a:ext uri="{FF2B5EF4-FFF2-40B4-BE49-F238E27FC236}">
                <a16:creationId xmlns:a16="http://schemas.microsoft.com/office/drawing/2014/main" id="{6B3B525D-1749-9FFA-4768-88E961687C70}"/>
              </a:ext>
            </a:extLst>
          </p:cNvPr>
          <p:cNvSpPr/>
          <p:nvPr/>
        </p:nvSpPr>
        <p:spPr>
          <a:xfrm>
            <a:off x="8403771" y="3675453"/>
            <a:ext cx="2185852" cy="493776"/>
          </a:xfrm>
          <a:prstGeom prst="wedgeRectCallout">
            <a:avLst>
              <a:gd name="adj1" fmla="val -5441"/>
              <a:gd name="adj2" fmla="val -803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업로드 파일 선택</a:t>
            </a:r>
            <a:endParaRPr lang="en-US" altLang="ko-KR" sz="1100" dirty="0"/>
          </a:p>
          <a:p>
            <a:pPr algn="ctr"/>
            <a:r>
              <a:rPr lang="en-US" altLang="ko-KR" sz="1100" dirty="0"/>
              <a:t>(</a:t>
            </a:r>
            <a:r>
              <a:rPr lang="ko-KR" altLang="en-US" sz="1100" dirty="0"/>
              <a:t>경로는 </a:t>
            </a:r>
            <a:r>
              <a:rPr lang="ko-KR" altLang="en-US" sz="1100" dirty="0" err="1"/>
              <a:t>경로는</a:t>
            </a:r>
            <a:r>
              <a:rPr lang="ko-KR" altLang="en-US" sz="1100" dirty="0"/>
              <a:t> 각자 맞게 설정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2300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3EAC-8871-76F7-9390-541FB98E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62C107-9970-BA58-E7DC-F076C3D483F6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CFCADE-B808-521C-DE22-DEF28FD75DFB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3640965-7CB4-97AB-BCF9-DA026BE80607}"/>
              </a:ext>
            </a:extLst>
          </p:cNvPr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기능 사용법</a:t>
            </a:r>
            <a:endParaRPr lang="en-US" sz="2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C29F137-9A94-BEAB-B7D5-1C3A261109CA}"/>
              </a:ext>
            </a:extLst>
          </p:cNvPr>
          <p:cNvSpPr/>
          <p:nvPr/>
        </p:nvSpPr>
        <p:spPr>
          <a:xfrm>
            <a:off x="548640" y="1800498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08E9ADA-6B5B-E02F-E569-ADE4D659ECDB}"/>
              </a:ext>
            </a:extLst>
          </p:cNvPr>
          <p:cNvSpPr/>
          <p:nvPr/>
        </p:nvSpPr>
        <p:spPr>
          <a:xfrm>
            <a:off x="548640" y="18004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0AFC4F7-B74D-D8B7-BFF7-89357F771D32}"/>
              </a:ext>
            </a:extLst>
          </p:cNvPr>
          <p:cNvSpPr/>
          <p:nvPr/>
        </p:nvSpPr>
        <p:spPr>
          <a:xfrm>
            <a:off x="1078992" y="178221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Options 탭 설정</a:t>
            </a:r>
            <a:endParaRPr lang="en-US" sz="13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4568A15-208A-0565-7B65-FF7E42A96EB8}"/>
              </a:ext>
            </a:extLst>
          </p:cNvPr>
          <p:cNvSpPr/>
          <p:nvPr/>
        </p:nvSpPr>
        <p:spPr>
          <a:xfrm>
            <a:off x="1078992" y="2065674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Header를 Yes로, Delimiter를 콤마(,)로 설정합니다.</a:t>
            </a:r>
            <a:endParaRPr lang="en-US" sz="108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175F598-4EBC-19F0-2F89-0895988E144D}"/>
              </a:ext>
            </a:extLst>
          </p:cNvPr>
          <p:cNvSpPr/>
          <p:nvPr/>
        </p:nvSpPr>
        <p:spPr>
          <a:xfrm>
            <a:off x="548640" y="2623458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3EAC4AB-BEFD-448C-B5FD-FAC8D299C1B5}"/>
              </a:ext>
            </a:extLst>
          </p:cNvPr>
          <p:cNvSpPr/>
          <p:nvPr/>
        </p:nvSpPr>
        <p:spPr>
          <a:xfrm>
            <a:off x="548640" y="26234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F14C9D7-0C62-7D1E-BE77-2B155DB28DEE}"/>
              </a:ext>
            </a:extLst>
          </p:cNvPr>
          <p:cNvSpPr/>
          <p:nvPr/>
        </p:nvSpPr>
        <p:spPr>
          <a:xfrm>
            <a:off x="1078992" y="260517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 탭 확인 후 실행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95D4999-FE8F-9B14-7890-E7877DC85813}"/>
              </a:ext>
            </a:extLst>
          </p:cNvPr>
          <p:cNvSpPr/>
          <p:nvPr/>
        </p:nvSpPr>
        <p:spPr>
          <a:xfrm>
            <a:off x="1078992" y="2888634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컬럼 순서를 확인하고 OK를 누르면 업로드가 진행됩니다.</a:t>
            </a:r>
            <a:endParaRPr lang="en-US" sz="108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8508E9C8-A519-04CB-AF2E-7E902E3D5CE6}"/>
              </a:ext>
            </a:extLst>
          </p:cNvPr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6972F7ED-4261-14D9-C535-F193C7CB9D30}"/>
              </a:ext>
            </a:extLst>
          </p:cNvPr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12 / 18</a:t>
            </a:r>
            <a:endParaRPr lang="en-US" sz="900" dirty="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90073D8C-EC86-1AA2-0664-8B024DCB6EA9}"/>
              </a:ext>
            </a:extLst>
          </p:cNvPr>
          <p:cNvSpPr/>
          <p:nvPr/>
        </p:nvSpPr>
        <p:spPr>
          <a:xfrm>
            <a:off x="5074920" y="1691640"/>
            <a:ext cx="653796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66" name="Shape 24">
            <a:extLst>
              <a:ext uri="{FF2B5EF4-FFF2-40B4-BE49-F238E27FC236}">
                <a16:creationId xmlns:a16="http://schemas.microsoft.com/office/drawing/2014/main" id="{992DF605-7266-7014-1163-6A4BC2868230}"/>
              </a:ext>
            </a:extLst>
          </p:cNvPr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E8C5F19-69F7-5EE8-05F7-D1FD93709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743" y="2052615"/>
            <a:ext cx="5612314" cy="4250048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BB249CA2-1028-7A47-42BD-CE20FA55B5D9}"/>
              </a:ext>
            </a:extLst>
          </p:cNvPr>
          <p:cNvGrpSpPr/>
          <p:nvPr/>
        </p:nvGrpSpPr>
        <p:grpSpPr>
          <a:xfrm>
            <a:off x="6961573" y="2418375"/>
            <a:ext cx="384048" cy="384048"/>
            <a:chOff x="7447630" y="5367528"/>
            <a:chExt cx="384048" cy="384048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C6F61C1F-4F25-B678-AA54-1095E461EA7D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9" name="Text 4">
              <a:extLst>
                <a:ext uri="{FF2B5EF4-FFF2-40B4-BE49-F238E27FC236}">
                  <a16:creationId xmlns:a16="http://schemas.microsoft.com/office/drawing/2014/main" id="{0ABB9486-45A2-DD64-AD08-D21647D61240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4</a:t>
              </a:r>
              <a:endParaRPr lang="en-US" sz="1400" dirty="0"/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A75139C-154C-50E3-7D53-80A8A2E96072}"/>
              </a:ext>
            </a:extLst>
          </p:cNvPr>
          <p:cNvSpPr/>
          <p:nvPr/>
        </p:nvSpPr>
        <p:spPr>
          <a:xfrm>
            <a:off x="6566263" y="2872527"/>
            <a:ext cx="1733006" cy="2743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F2E70A-15C4-4EF2-B5F0-5EF3DCCEB8D7}"/>
              </a:ext>
            </a:extLst>
          </p:cNvPr>
          <p:cNvSpPr/>
          <p:nvPr/>
        </p:nvSpPr>
        <p:spPr>
          <a:xfrm>
            <a:off x="6566263" y="3552231"/>
            <a:ext cx="1733006" cy="2743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말풍선: 사각형 25">
            <a:extLst>
              <a:ext uri="{FF2B5EF4-FFF2-40B4-BE49-F238E27FC236}">
                <a16:creationId xmlns:a16="http://schemas.microsoft.com/office/drawing/2014/main" id="{7227B421-8B92-2BBA-2083-780D3E58CBD8}"/>
              </a:ext>
            </a:extLst>
          </p:cNvPr>
          <p:cNvSpPr/>
          <p:nvPr/>
        </p:nvSpPr>
        <p:spPr>
          <a:xfrm>
            <a:off x="8427899" y="3067812"/>
            <a:ext cx="2501357" cy="493776"/>
          </a:xfrm>
          <a:prstGeom prst="wedgeRectCallout">
            <a:avLst>
              <a:gd name="adj1" fmla="val -20581"/>
              <a:gd name="adj2" fmla="val -3450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Header</a:t>
            </a:r>
            <a:r>
              <a:rPr lang="ko-KR" altLang="en-US" sz="1100" dirty="0"/>
              <a:t>는 </a:t>
            </a:r>
            <a:r>
              <a:rPr lang="en-US" altLang="ko-KR" sz="1100" dirty="0"/>
              <a:t>Yes</a:t>
            </a:r>
            <a:r>
              <a:rPr lang="ko-KR" altLang="en-US" sz="1100" dirty="0"/>
              <a:t>로</a:t>
            </a:r>
            <a:r>
              <a:rPr lang="en-US" altLang="ko-KR" sz="1100" dirty="0"/>
              <a:t>(</a:t>
            </a:r>
            <a:r>
              <a:rPr lang="ko-KR" altLang="en-US" sz="1100" dirty="0"/>
              <a:t>그림과 같이 설정</a:t>
            </a:r>
            <a:r>
              <a:rPr lang="en-US" altLang="ko-KR" sz="1100" dirty="0"/>
              <a:t>)</a:t>
            </a:r>
          </a:p>
          <a:p>
            <a:pPr algn="ctr"/>
            <a:r>
              <a:rPr lang="en-US" altLang="ko-KR" sz="1100" dirty="0"/>
              <a:t>Delimiter</a:t>
            </a:r>
            <a:r>
              <a:rPr lang="ko-KR" altLang="en-US" sz="1100" dirty="0"/>
              <a:t>는 </a:t>
            </a:r>
            <a:r>
              <a:rPr lang="en-US" altLang="ko-KR" sz="1100" dirty="0"/>
              <a:t>“,”</a:t>
            </a:r>
            <a:r>
              <a:rPr lang="ko-KR" altLang="en-US" sz="1100" dirty="0"/>
              <a:t>를 선택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69CA0A0-FE34-06D1-1CDF-E9ECDDF87570}"/>
              </a:ext>
            </a:extLst>
          </p:cNvPr>
          <p:cNvGrpSpPr/>
          <p:nvPr/>
        </p:nvGrpSpPr>
        <p:grpSpPr>
          <a:xfrm>
            <a:off x="10104120" y="5605272"/>
            <a:ext cx="384048" cy="384048"/>
            <a:chOff x="7447630" y="5367528"/>
            <a:chExt cx="384048" cy="384048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0092581A-1570-ECA4-0C4E-3D01E6D9F204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F2BC291C-9356-BCBB-FFED-57D4FA6E4937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5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493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 데이터 Import 하기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2880360"/>
          </a:xfrm>
          <a:prstGeom prst="roundRect">
            <a:avLst>
              <a:gd name="adj" fmla="val 317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64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컬럼 순서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1305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member_id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17520" y="2130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회원ID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3911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3911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member_name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0" y="23911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회원명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7240" y="26517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29123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7280" y="29123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member_email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17520" y="29123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7240" y="3172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1729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membership_date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017520" y="31729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가입일(8자리)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34335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97280" y="34335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membership_level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17520" y="343357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등급(2자리)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369417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36941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birth_date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17520" y="3694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생년월일(8자리)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7240" y="39547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97280" y="39547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member_gender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017520" y="39547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M/F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77240" y="421538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97280" y="42153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user_yn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017520" y="421538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 Y/N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466344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FF6DF"/>
          </a:solidFill>
          <a:ln w="12700">
            <a:solidFill>
              <a:srgbClr val="F0DFA0"/>
            </a:solidFill>
            <a:prstDash val="solid"/>
          </a:ln>
        </p:spPr>
      </p:sp>
      <p:pic>
        <p:nvPicPr>
          <p:cNvPr id="35" name="Image 0" descr="assets/icon_warning_E8B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28032"/>
            <a:ext cx="274320" cy="2743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43000" y="477316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D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확인하세요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143000" y="504748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업로드해야 하는 테이블입니다. member_id 값에 중복이 있으면 기본키(PRIMARY KEY) 제약조건 위반 오류가 발생하니 CSV 내 중복 여부를 먼저 확인하세요.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892040" y="160020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892040" y="1600200"/>
            <a:ext cx="672084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40" name="Shape 37"/>
          <p:cNvSpPr/>
          <p:nvPr/>
        </p:nvSpPr>
        <p:spPr>
          <a:xfrm>
            <a:off x="4892040" y="1856232"/>
            <a:ext cx="672084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41" name="Shape 38"/>
          <p:cNvSpPr/>
          <p:nvPr/>
        </p:nvSpPr>
        <p:spPr>
          <a:xfrm>
            <a:off x="5020056" y="171907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42" name="Shape 39"/>
          <p:cNvSpPr/>
          <p:nvPr/>
        </p:nvSpPr>
        <p:spPr>
          <a:xfrm>
            <a:off x="5202936" y="171907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43" name="Shape 40"/>
          <p:cNvSpPr/>
          <p:nvPr/>
        </p:nvSpPr>
        <p:spPr>
          <a:xfrm>
            <a:off x="5385816" y="171907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44" name="Text 41"/>
          <p:cNvSpPr/>
          <p:nvPr/>
        </p:nvSpPr>
        <p:spPr>
          <a:xfrm>
            <a:off x="5532120" y="16002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— t_member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074920" y="21579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5120640" y="2542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Filename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09360" y="2542032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0" y="2542032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member_data.csv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5120640" y="294436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Format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309360" y="2944368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0" y="2944368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5120640" y="33467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Encoding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6309360" y="334670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400800" y="33467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UTF8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5074920" y="3895344"/>
            <a:ext cx="635508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074920" y="40325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5120640" y="43982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테이블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309360" y="439826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400800" y="43982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t_member</a:t>
            </a:r>
            <a:endParaRPr lang="en-US" sz="1050" dirty="0"/>
          </a:p>
        </p:txBody>
      </p:sp>
      <p:pic>
        <p:nvPicPr>
          <p:cNvPr id="60" name="Image 1" descr="assets/icon_upload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4901184"/>
            <a:ext cx="365760" cy="365760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7246620" y="48554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9D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imported successfully</a:t>
            </a:r>
            <a:endParaRPr lang="en-US" sz="1050" dirty="0"/>
          </a:p>
        </p:txBody>
      </p:sp>
      <p:sp>
        <p:nvSpPr>
          <p:cNvPr id="62" name="Shape 58"/>
          <p:cNvSpPr/>
          <p:nvPr/>
        </p:nvSpPr>
        <p:spPr>
          <a:xfrm>
            <a:off x="987552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987552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</a:t>
            </a:r>
            <a:endParaRPr lang="en-US" sz="1050" dirty="0"/>
          </a:p>
        </p:txBody>
      </p:sp>
      <p:sp>
        <p:nvSpPr>
          <p:cNvPr id="64" name="Shape 60"/>
          <p:cNvSpPr/>
          <p:nvPr/>
        </p:nvSpPr>
        <p:spPr>
          <a:xfrm>
            <a:off x="1069848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1069848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5-1 · 데이터 Import</a:t>
            </a:r>
            <a:endParaRPr lang="en-US" sz="900" dirty="0"/>
          </a:p>
        </p:txBody>
      </p:sp>
      <p:sp>
        <p:nvSpPr>
          <p:cNvPr id="67" name="Text 63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13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t_product 데이터 Import 하기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2880360"/>
          </a:xfrm>
          <a:prstGeom prst="roundRect">
            <a:avLst>
              <a:gd name="adj" fmla="val 317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64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컬럼 순서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1305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product_id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17520" y="2130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상품ID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3911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3911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product_name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0" y="23911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7240" y="26517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product_price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가격(정수8+소수2)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29123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7280" y="29123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sales_status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17520" y="29123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판매여부 Y/N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466344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FF6DF"/>
          </a:solidFill>
          <a:ln w="12700">
            <a:solidFill>
              <a:srgbClr val="F0DFA0"/>
            </a:solidFill>
            <a:prstDash val="solid"/>
          </a:ln>
        </p:spPr>
      </p:sp>
      <p:pic>
        <p:nvPicPr>
          <p:cNvPr id="20" name="Image 0" descr="assets/icon_warning_E8B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2803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43000" y="477316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D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확인하세요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43000" y="504748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product_price는 숫자(NUMERIC) 컬럼이므로 CSV에 콤마(,)나 원화 기호(₩) 없이 순수 숫자만 입력합니다. 예: 15000.00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92040" y="160020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92040" y="1600200"/>
            <a:ext cx="672084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5" name="Shape 22"/>
          <p:cNvSpPr/>
          <p:nvPr/>
        </p:nvSpPr>
        <p:spPr>
          <a:xfrm>
            <a:off x="4892040" y="1856232"/>
            <a:ext cx="672084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6" name="Shape 23"/>
          <p:cNvSpPr/>
          <p:nvPr/>
        </p:nvSpPr>
        <p:spPr>
          <a:xfrm>
            <a:off x="5020056" y="171907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7" name="Shape 24"/>
          <p:cNvSpPr/>
          <p:nvPr/>
        </p:nvSpPr>
        <p:spPr>
          <a:xfrm>
            <a:off x="5202936" y="171907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8" name="Shape 25"/>
          <p:cNvSpPr/>
          <p:nvPr/>
        </p:nvSpPr>
        <p:spPr>
          <a:xfrm>
            <a:off x="5385816" y="171907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9" name="Text 26"/>
          <p:cNvSpPr/>
          <p:nvPr/>
        </p:nvSpPr>
        <p:spPr>
          <a:xfrm>
            <a:off x="5532120" y="16002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— t_product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074920" y="21579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General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20640" y="2542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Filename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309360" y="2542032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00800" y="2542032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product_data.csv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120640" y="294436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Format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09360" y="2944368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0" y="2944368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120640" y="33467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Encoding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309360" y="334670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0" y="33467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UTF8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74920" y="3895344"/>
            <a:ext cx="635508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74920" y="40325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5120640" y="43982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테이블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09360" y="439826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400800" y="43982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t_product</a:t>
            </a:r>
            <a:endParaRPr lang="en-US" sz="1050" dirty="0"/>
          </a:p>
        </p:txBody>
      </p:sp>
      <p:pic>
        <p:nvPicPr>
          <p:cNvPr id="45" name="Image 1" descr="assets/icon_upload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4901184"/>
            <a:ext cx="365760" cy="36576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7246620" y="48554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9D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imported successfully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987552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987552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1069848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1069848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5-2 · 데이터 Import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14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t_purchase_history 데이터 Import 하기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2880360"/>
          </a:xfrm>
          <a:prstGeom prst="roundRect">
            <a:avLst>
              <a:gd name="adj" fmla="val 317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  <a:effectLst>
            <a:outerShdw blurRad="127000" dist="38100" dir="5400000" algn="bl" rotWithShape="0">
              <a:srgbClr val="1E3A7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64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컬럼 순서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1305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sales_id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17520" y="2130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판매번호(13자리)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3911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3911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member_id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0" y="23911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회원ID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7240" y="26517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29123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97280" y="29123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purchase_date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17520" y="29123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구매일자(8자리)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7240" y="3172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5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1729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payment_method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017520" y="31729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결제방식 00/01/02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66344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DECEC"/>
          </a:solidFill>
          <a:ln w="12700">
            <a:solidFill>
              <a:srgbClr val="F3C9C9"/>
            </a:solidFill>
            <a:prstDash val="solid"/>
          </a:ln>
        </p:spPr>
      </p:sp>
      <p:pic>
        <p:nvPicPr>
          <p:cNvPr id="23" name="Image 0" descr="assets/icon_warning_D645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28032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143000" y="477316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2A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순서로 진행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43000" y="504748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t_member, t_product 데이터가 먼저 업로드되어 있어야 합니다. member_id·product_id 값이 두 테이블에 실제로 존재하는 값인지 CSV 작성 시 미리 확인하세요.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1600200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892040" y="1600200"/>
            <a:ext cx="672084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8" name="Shape 25"/>
          <p:cNvSpPr/>
          <p:nvPr/>
        </p:nvSpPr>
        <p:spPr>
          <a:xfrm>
            <a:off x="4892040" y="1856232"/>
            <a:ext cx="672084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9" name="Shape 26"/>
          <p:cNvSpPr/>
          <p:nvPr/>
        </p:nvSpPr>
        <p:spPr>
          <a:xfrm>
            <a:off x="5020056" y="171907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30" name="Shape 27"/>
          <p:cNvSpPr/>
          <p:nvPr/>
        </p:nvSpPr>
        <p:spPr>
          <a:xfrm>
            <a:off x="5202936" y="171907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31" name="Shape 28"/>
          <p:cNvSpPr/>
          <p:nvPr/>
        </p:nvSpPr>
        <p:spPr>
          <a:xfrm>
            <a:off x="5385816" y="171907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32" name="Text 29"/>
          <p:cNvSpPr/>
          <p:nvPr/>
        </p:nvSpPr>
        <p:spPr>
          <a:xfrm>
            <a:off x="5532120" y="16002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 Data — t_purchase_history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074920" y="21579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General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120640" y="2542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Filename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09360" y="2542032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0" y="2542032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purchase_history_data.csv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120640" y="294436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Format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309360" y="2944368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0" y="2944368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120640" y="33467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Encoding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6309360" y="334670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400800" y="33467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UTF8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74920" y="3895344"/>
            <a:ext cx="635508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74920" y="40325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5120640" y="43982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테이블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309360" y="4398264"/>
            <a:ext cx="5074920" cy="310896"/>
          </a:xfrm>
          <a:prstGeom prst="roundRect">
            <a:avLst>
              <a:gd name="adj" fmla="val 11765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400800" y="43982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t_purchase_history</a:t>
            </a:r>
            <a:endParaRPr lang="en-US" sz="1050" dirty="0"/>
          </a:p>
        </p:txBody>
      </p:sp>
      <p:pic>
        <p:nvPicPr>
          <p:cNvPr id="48" name="Image 1" descr="assets/icon_upload_2F6F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0" y="4901184"/>
            <a:ext cx="365760" cy="365760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7246620" y="48554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9D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imported successfully</a:t>
            </a:r>
            <a:endParaRPr lang="en-US" sz="1050" dirty="0"/>
          </a:p>
        </p:txBody>
      </p:sp>
      <p:sp>
        <p:nvSpPr>
          <p:cNvPr id="50" name="Shape 46"/>
          <p:cNvSpPr/>
          <p:nvPr/>
        </p:nvSpPr>
        <p:spPr>
          <a:xfrm>
            <a:off x="987552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987552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10698480" y="5897880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10698480" y="58978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5-3 · 데이터 Import</a:t>
            </a:r>
            <a:endParaRPr lang="en-US" sz="900" dirty="0"/>
          </a:p>
        </p:txBody>
      </p:sp>
      <p:sp>
        <p:nvSpPr>
          <p:cNvPr id="55" name="Text 51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15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업로드된 데이터 확인하기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16733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우클릭 → View/Edit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956816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테이블을 우클릭하고 View/Edit Data ▸ All Rows를 선택합니다.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5" name="Shape 23"/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6" name="Shape 24"/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7" name="Shape 25"/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8" name="Shape 26"/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9" name="Text 27"/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View/Edit Data — t_member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16 / 18</a:t>
            </a:r>
            <a:endParaRPr lang="en-US" sz="900" dirty="0"/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1513E368-C24F-627B-4A09-DD79B3397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2179666"/>
            <a:ext cx="5482481" cy="4034860"/>
          </a:xfrm>
          <a:prstGeom prst="rect">
            <a:avLst/>
          </a:prstGeom>
        </p:spPr>
      </p:pic>
      <p:grpSp>
        <p:nvGrpSpPr>
          <p:cNvPr id="70" name="그룹 69">
            <a:extLst>
              <a:ext uri="{FF2B5EF4-FFF2-40B4-BE49-F238E27FC236}">
                <a16:creationId xmlns:a16="http://schemas.microsoft.com/office/drawing/2014/main" id="{3EDAC266-4BE6-3750-4126-D16FDC7F2F73}"/>
              </a:ext>
            </a:extLst>
          </p:cNvPr>
          <p:cNvGrpSpPr/>
          <p:nvPr/>
        </p:nvGrpSpPr>
        <p:grpSpPr>
          <a:xfrm>
            <a:off x="7168582" y="4108922"/>
            <a:ext cx="384048" cy="384048"/>
            <a:chOff x="7447630" y="5367528"/>
            <a:chExt cx="384048" cy="384048"/>
          </a:xfrm>
        </p:grpSpPr>
        <p:sp>
          <p:nvSpPr>
            <p:cNvPr id="71" name="Shape 3">
              <a:extLst>
                <a:ext uri="{FF2B5EF4-FFF2-40B4-BE49-F238E27FC236}">
                  <a16:creationId xmlns:a16="http://schemas.microsoft.com/office/drawing/2014/main" id="{7CFB3110-03A5-3515-7479-862E29FA372C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72" name="Text 4">
              <a:extLst>
                <a:ext uri="{FF2B5EF4-FFF2-40B4-BE49-F238E27FC236}">
                  <a16:creationId xmlns:a16="http://schemas.microsoft.com/office/drawing/2014/main" id="{B752D891-A9FC-FD67-0C51-996B61CFD772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8C5FE-0D64-4230-F081-9D70B478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D75AECD-8443-17E8-8741-F933BB5963B7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1A55224-C2FF-B3B7-5E4F-8090C44A70EF}"/>
              </a:ext>
            </a:extLst>
          </p:cNvPr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538B1DC-5499-E9E7-D2B2-17F966B799AF}"/>
              </a:ext>
            </a:extLst>
          </p:cNvPr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업로드된 데이터 확인하기</a:t>
            </a:r>
            <a:endParaRPr lang="en-US" sz="25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6F6AF03-D228-D604-8F8E-F9E8E6CA0009}"/>
              </a:ext>
            </a:extLst>
          </p:cNvPr>
          <p:cNvSpPr/>
          <p:nvPr/>
        </p:nvSpPr>
        <p:spPr>
          <a:xfrm>
            <a:off x="548640" y="1704702"/>
            <a:ext cx="384048" cy="384048"/>
          </a:xfrm>
          <a:prstGeom prst="ellipse">
            <a:avLst/>
          </a:prstGeom>
          <a:solidFill>
            <a:srgbClr val="1E3A70"/>
          </a:solidFill>
          <a:ln/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BA0AED4-8367-B7AA-61F2-69FFB577648C}"/>
              </a:ext>
            </a:extLst>
          </p:cNvPr>
          <p:cNvSpPr/>
          <p:nvPr/>
        </p:nvSpPr>
        <p:spPr>
          <a:xfrm>
            <a:off x="548640" y="17047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654D604-1B6B-1C0E-1C22-C0687CD8A10F}"/>
              </a:ext>
            </a:extLst>
          </p:cNvPr>
          <p:cNvSpPr/>
          <p:nvPr/>
        </p:nvSpPr>
        <p:spPr>
          <a:xfrm>
            <a:off x="1078992" y="168641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그리드 확인</a:t>
            </a:r>
            <a:endParaRPr lang="en-US" sz="13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95E8F72-BC3E-D62F-5A3B-60B649FFFCC3}"/>
              </a:ext>
            </a:extLst>
          </p:cNvPr>
          <p:cNvSpPr/>
          <p:nvPr/>
        </p:nvSpPr>
        <p:spPr>
          <a:xfrm>
            <a:off x="1078992" y="1969878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열리는 그리드에서 행 수와 값이 CSV 내용과 일치하는지 확인합니다.</a:t>
            </a:r>
            <a:endParaRPr lang="en-US" sz="108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2151044-CC3F-BE22-369A-CCADC7684A16}"/>
              </a:ext>
            </a:extLst>
          </p:cNvPr>
          <p:cNvSpPr/>
          <p:nvPr/>
        </p:nvSpPr>
        <p:spPr>
          <a:xfrm>
            <a:off x="5074920" y="1691640"/>
            <a:ext cx="653796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blurRad="177800" dist="50800" dir="5400000" algn="bl" rotWithShape="0">
              <a:srgbClr val="0B1A3D">
                <a:alpha val="22000"/>
              </a:srgbClr>
            </a:outerShdw>
          </a:effectLst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E433706-2666-33B6-C32C-FEE4BAE97D19}"/>
              </a:ext>
            </a:extLst>
          </p:cNvPr>
          <p:cNvSpPr/>
          <p:nvPr/>
        </p:nvSpPr>
        <p:spPr>
          <a:xfrm>
            <a:off x="5074920" y="1691640"/>
            <a:ext cx="6537960" cy="329184"/>
          </a:xfrm>
          <a:prstGeom prst="roundRect">
            <a:avLst>
              <a:gd name="adj" fmla="val 22222"/>
            </a:avLst>
          </a:prstGeom>
          <a:solidFill>
            <a:srgbClr val="0B1A3D"/>
          </a:solidFill>
          <a:ln/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B5537A5-E65A-A011-1B85-D62690835FF9}"/>
              </a:ext>
            </a:extLst>
          </p:cNvPr>
          <p:cNvSpPr/>
          <p:nvPr/>
        </p:nvSpPr>
        <p:spPr>
          <a:xfrm>
            <a:off x="5074920" y="1947672"/>
            <a:ext cx="6537960" cy="73152"/>
          </a:xfrm>
          <a:prstGeom prst="rect">
            <a:avLst/>
          </a:prstGeom>
          <a:solidFill>
            <a:srgbClr val="0B1A3D"/>
          </a:solidFill>
          <a:ln/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E990E075-285C-6FD7-146D-0CC2C719B5CC}"/>
              </a:ext>
            </a:extLst>
          </p:cNvPr>
          <p:cNvSpPr/>
          <p:nvPr/>
        </p:nvSpPr>
        <p:spPr>
          <a:xfrm>
            <a:off x="5202936" y="1810512"/>
            <a:ext cx="91440" cy="9144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E0B881C7-37E7-56E0-737C-52AE42A28180}"/>
              </a:ext>
            </a:extLst>
          </p:cNvPr>
          <p:cNvSpPr/>
          <p:nvPr/>
        </p:nvSpPr>
        <p:spPr>
          <a:xfrm>
            <a:off x="5385816" y="1810512"/>
            <a:ext cx="91440" cy="9144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4FAA0E46-5365-62E6-DDDC-686DA6EEB0A9}"/>
              </a:ext>
            </a:extLst>
          </p:cNvPr>
          <p:cNvSpPr/>
          <p:nvPr/>
        </p:nvSpPr>
        <p:spPr>
          <a:xfrm>
            <a:off x="5568696" y="1810512"/>
            <a:ext cx="91440" cy="91440"/>
          </a:xfrm>
          <a:prstGeom prst="ellipse">
            <a:avLst/>
          </a:prstGeom>
          <a:solidFill>
            <a:srgbClr val="1F9D6B"/>
          </a:solidFill>
          <a:ln/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7E3879C-B219-22C5-CE81-701E73AD501A}"/>
              </a:ext>
            </a:extLst>
          </p:cNvPr>
          <p:cNvSpPr/>
          <p:nvPr/>
        </p:nvSpPr>
        <p:spPr>
          <a:xfrm>
            <a:off x="5715000" y="16916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View/Edit Data — t_member</a:t>
            </a:r>
            <a:endParaRPr lang="en-US" sz="105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4924C09B-B785-3679-4809-BDD64F27C5FB}"/>
              </a:ext>
            </a:extLst>
          </p:cNvPr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8F19B580-72DC-137C-14F6-86DBDC360DA0}"/>
              </a:ext>
            </a:extLst>
          </p:cNvPr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16 / 18</a:t>
            </a:r>
            <a:endParaRPr lang="en-US" sz="900"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F1A75A6-EFB4-ACD9-D77F-EDE4B53E0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7510" y="2157984"/>
            <a:ext cx="5495498" cy="4002767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636F3CBF-2498-627F-DC06-85E906E405AB}"/>
              </a:ext>
            </a:extLst>
          </p:cNvPr>
          <p:cNvGrpSpPr/>
          <p:nvPr/>
        </p:nvGrpSpPr>
        <p:grpSpPr>
          <a:xfrm>
            <a:off x="9706635" y="3899916"/>
            <a:ext cx="384048" cy="384048"/>
            <a:chOff x="7447630" y="5367528"/>
            <a:chExt cx="384048" cy="384048"/>
          </a:xfrm>
        </p:grpSpPr>
        <p:sp>
          <p:nvSpPr>
            <p:cNvPr id="33" name="Shape 3">
              <a:extLst>
                <a:ext uri="{FF2B5EF4-FFF2-40B4-BE49-F238E27FC236}">
                  <a16:creationId xmlns:a16="http://schemas.microsoft.com/office/drawing/2014/main" id="{00E109F8-6A0A-7301-8154-351440062CD5}"/>
                </a:ext>
              </a:extLst>
            </p:cNvPr>
            <p:cNvSpPr/>
            <p:nvPr/>
          </p:nvSpPr>
          <p:spPr>
            <a:xfrm>
              <a:off x="7506909" y="5437490"/>
              <a:ext cx="265491" cy="231790"/>
            </a:xfrm>
            <a:prstGeom prst="ellipse">
              <a:avLst/>
            </a:prstGeom>
            <a:solidFill>
              <a:srgbClr val="1E3A70"/>
            </a:solidFill>
            <a:ln/>
          </p:spPr>
        </p:sp>
        <p:sp>
          <p:nvSpPr>
            <p:cNvPr id="34" name="Text 4">
              <a:extLst>
                <a:ext uri="{FF2B5EF4-FFF2-40B4-BE49-F238E27FC236}">
                  <a16:creationId xmlns:a16="http://schemas.microsoft.com/office/drawing/2014/main" id="{E4F32921-484D-2C5C-738B-41A14B69B43B}"/>
                </a:ext>
              </a:extLst>
            </p:cNvPr>
            <p:cNvSpPr/>
            <p:nvPr/>
          </p:nvSpPr>
          <p:spPr>
            <a:xfrm>
              <a:off x="7447630" y="5367528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94477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해결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발생하는 오류와 해결 방법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73152" cy="841248"/>
          </a:xfrm>
          <a:prstGeom prst="roundRect">
            <a:avLst/>
          </a:prstGeom>
          <a:solidFill>
            <a:srgbClr val="D64545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45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 key value violates unique constraint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193852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 KEY 컬럼(member_id, product_id, sales_id)에 중복된 값이 있습니다. CSV에서 중복 행을 제거하세요.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514600"/>
            <a:ext cx="73152" cy="841248"/>
          </a:xfrm>
          <a:prstGeom prst="roundRect">
            <a:avLst/>
          </a:prstGeom>
          <a:solidFill>
            <a:srgbClr val="D6454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060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invalid input syntax / extra data after last expected column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8986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컬럼 개수·순서가 테이블과 다릅니다. Columns 탭에서 CSV 헤더와 테이블 컬럼 매핑을 다시 확인하세요.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74720"/>
            <a:ext cx="73152" cy="841248"/>
          </a:xfrm>
          <a:prstGeom prst="roundRect">
            <a:avLst/>
          </a:prstGeom>
          <a:solidFill>
            <a:srgbClr val="D64545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5661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row violates check constraint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385876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 제약조건(M/F, Y/N, 00~02 등)에 정의되지 않은 값이 입력됐습니다. 코드값 오탈자를 확인하세요.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34840"/>
            <a:ext cx="73152" cy="841248"/>
          </a:xfrm>
          <a:prstGeom prst="roundRect">
            <a:avLst/>
          </a:prstGeom>
          <a:solidFill>
            <a:srgbClr val="D64545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526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인코딩 오류 / 한글 깨짐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481888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 대화상자의 Encoding이 UTF8인지, CSV 저장 시에도 UTF-8(BOM 없이)로 저장했는지 확인하세요.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539496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BFCFE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5394960"/>
            <a:ext cx="73152" cy="841248"/>
          </a:xfrm>
          <a:prstGeom prst="roundRect">
            <a:avLst/>
          </a:prstGeom>
          <a:solidFill>
            <a:srgbClr val="D64545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486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too long for type character varying(n)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" y="577900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VARCHAR 길이 제한을 초과했습니다. 예: member_name VARCHAR(30) 초과 시 값을 줄이거나 컬럼 길이를 늘리세요.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 데이터 업로드 매뉴얼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0" y="6547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5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DB  |  17 / 18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1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수고하셨습니다!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데이터 업로드 완료 체크리스트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5" name="Image 0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2311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1671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pgAdmin4에서 PostgreSQL 서버에 연결했다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22960" y="272491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8" name="Image 1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761488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6974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sql-learn 데이터베이스를 생성했다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822960" y="32552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11" name="Image 2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29184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227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t_member, t_product, t_purchase_history 3개 테이블을 생성했다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822960" y="378561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14" name="Image 3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82219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7581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파일을 UTF-8, 콤마 구분, 헤더 포함 형식으로 준비했다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2960" y="431596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17" name="Image 4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35254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4288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t_member → t_product → t_purchase_history 순서로 데이터를 업로드했다</a:t>
            </a:r>
            <a:endParaRPr lang="en-US" sz="1350" dirty="0"/>
          </a:p>
        </p:txBody>
      </p:sp>
      <p:sp>
        <p:nvSpPr>
          <p:cNvPr id="19" name="Shape 12"/>
          <p:cNvSpPr/>
          <p:nvPr/>
        </p:nvSpPr>
        <p:spPr>
          <a:xfrm>
            <a:off x="822960" y="484632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6295C"/>
          </a:solidFill>
          <a:ln w="12700">
            <a:solidFill>
              <a:srgbClr val="3E5A9E"/>
            </a:solidFill>
            <a:prstDash val="solid"/>
          </a:ln>
        </p:spPr>
      </p:sp>
      <p:pic>
        <p:nvPicPr>
          <p:cNvPr id="20" name="Image 5" descr="assets/icon_check_1F9D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882896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80160" y="48188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A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View/Edit Data 또는 SELECT COUNT(*)로 업로드 결과를 확인했다</a:t>
            </a:r>
            <a:endParaRPr lang="en-US" sz="1350" dirty="0"/>
          </a:p>
        </p:txBody>
      </p:sp>
      <p:sp>
        <p:nvSpPr>
          <p:cNvPr id="22" name="Shape 14"/>
          <p:cNvSpPr/>
          <p:nvPr/>
        </p:nvSpPr>
        <p:spPr>
          <a:xfrm>
            <a:off x="822960" y="5760720"/>
            <a:ext cx="10515600" cy="685800"/>
          </a:xfrm>
          <a:prstGeom prst="roundRect">
            <a:avLst>
              <a:gd name="adj" fmla="val 13333"/>
            </a:avLst>
          </a:prstGeom>
          <a:solidFill>
            <a:srgbClr val="16295C"/>
          </a:solidFill>
          <a:ln w="12700">
            <a:solidFill>
              <a:srgbClr val="2A4A8A"/>
            </a:solidFill>
            <a:prstDash val="solid"/>
          </a:ln>
        </p:spPr>
      </p:sp>
      <p:pic>
        <p:nvPicPr>
          <p:cNvPr id="23" name="Image 6" descr="assets/icon_bulb_E8B9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925312"/>
            <a:ext cx="347472" cy="347472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508760" y="57607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D3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단계로는 3개 테이블을 JOIN하는 SQL 실습을 진행해 보세요. (예: 회원별 구매 건수, 상품별 매출 집계)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2700</Words>
  <Application>Microsoft Office PowerPoint</Application>
  <PresentationFormat>와이드스크린</PresentationFormat>
  <Paragraphs>498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맑은 고딕</vt:lpstr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석현 김</cp:lastModifiedBy>
  <cp:revision>5</cp:revision>
  <dcterms:created xsi:type="dcterms:W3CDTF">2026-07-13T20:23:19Z</dcterms:created>
  <dcterms:modified xsi:type="dcterms:W3CDTF">2026-07-19T12:15:27Z</dcterms:modified>
</cp:coreProperties>
</file>