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377440"/>
            <a:ext cx="2103120" cy="21031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228600" dist="508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71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INSTALLATION GUIDE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버전 설치 매뉴얼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FC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다운로드부터 설치 완료 확인까지, 단계별 화면으로 따라하는 설치 가이드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02920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223258"/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39696" y="50292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23258"/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39696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18688" y="50292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23258"/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18688" y="5029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502920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223258"/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502920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오픈소스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 준비사항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67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 및 확인 사항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218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 접속 및 설치 파일 다운로드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931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마법사 진행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270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경로, 구성 요소, 데이터 디렉터리 설정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1828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포트 · 로케일 설정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167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superuser 비밀번호, 포트 번호, 언어 설정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7804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완료 및 확인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218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요약, Stack Builder, 버전 확인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794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02336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40880" y="390448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5단계로 구성된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실습형 설치 가이드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 준비사항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설치를 시작하기 전에 아래 사항을 먼저 확인하세요.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25400" dir="5400000">
              <a:srgbClr val="16233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40180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4505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확인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520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10/11, macOS 12+,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Linux 배포판 지원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19272" y="19659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25400" dir="5400000">
              <a:srgbClr val="16233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10812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24505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여유 공간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56432" y="3520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350MB 이상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 저장 공간은 별도 확보)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9904" y="19659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25400" dir="5400000">
              <a:srgbClr val="16233F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81444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36" y="24505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27064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27064" y="3520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프로그램 실행 시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관리자(admin) 권한 필요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0536" y="19659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25400" dir="5400000">
              <a:srgbClr val="16233F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52076" y="2286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668" y="245059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97696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확인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997696" y="3520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포트 5432가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프로그램과 충돌하지 않는지 확인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3036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기존에 PostgreSQL이 설치되어 있다면 버전 충돌을 막기 위해 먼저 삭제하거나 포트 번호를 다르게 지정하세요.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 접속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브라우저에서 PostgreSQL 공식 다운로드 페이지에 접속합니다.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126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6126480" cy="457200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2103120"/>
            <a:ext cx="91440" cy="9144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" y="2103120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2011680"/>
            <a:ext cx="5120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https://www.postgresql.org/download/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33679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2578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Downloads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" y="33375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AF2F8"/>
          </a:solidFill>
          <a:ln w="12700">
            <a:solidFill>
              <a:srgbClr val="D7E1E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930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05840" y="4251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installer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834640" y="33375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AF2F8"/>
          </a:solidFill>
          <a:ln w="12700">
            <a:solidFill>
              <a:srgbClr val="D7E1E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49300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83464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926080" y="4251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installer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754880" y="33375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AF2F8"/>
          </a:solidFill>
          <a:ln w="12700">
            <a:solidFill>
              <a:srgbClr val="D7E1E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49300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5488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46320" y="4251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installer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91440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중인 운영체제(OS)에 맞는 항목을 클릭하세요.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14400" y="5257800"/>
            <a:ext cx="5394960" cy="1828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31" name="Text 25"/>
          <p:cNvSpPr/>
          <p:nvPr/>
        </p:nvSpPr>
        <p:spPr>
          <a:xfrm>
            <a:off x="914400" y="5394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안정 버전(Stable Release)을 선택하는 것을 권장합니다.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995160" y="196596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/>
        </p:spPr>
      </p:sp>
      <p:sp>
        <p:nvSpPr>
          <p:cNvPr id="33" name="Shape 27"/>
          <p:cNvSpPr/>
          <p:nvPr/>
        </p:nvSpPr>
        <p:spPr>
          <a:xfrm>
            <a:off x="7159752" y="2221992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15975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786384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주소창에 postgresql.org/download 입력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6995160" y="320040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/>
        </p:spPr>
      </p:sp>
      <p:sp>
        <p:nvSpPr>
          <p:cNvPr id="37" name="Shape 31"/>
          <p:cNvSpPr/>
          <p:nvPr/>
        </p:nvSpPr>
        <p:spPr>
          <a:xfrm>
            <a:off x="7159752" y="3456432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159752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7863840" y="3200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운영체제(Windows / macOS / Linux) 선택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6995160" y="443484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/>
        </p:spPr>
      </p:sp>
      <p:sp>
        <p:nvSpPr>
          <p:cNvPr id="41" name="Shape 35"/>
          <p:cNvSpPr/>
          <p:nvPr/>
        </p:nvSpPr>
        <p:spPr>
          <a:xfrm>
            <a:off x="7159752" y="4690872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7159752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7863840" y="4434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제공되는 설치 프로그램(EDB installer) 다운로드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6995160" y="571500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806440"/>
            <a:ext cx="320040" cy="32004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543800" y="5715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EDB사가 제공하는 그래픽 설치 프로그램을 사용합니다.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WIZARD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마법사 시작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다운로드한 설치 파일을 실행하면 설치 마법사가 시작됩니다.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Setup Wizard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Welcome to the PostgreSQL Setup Wizard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71800" y="2788920"/>
            <a:ext cx="1188720" cy="1188720"/>
          </a:xfrm>
          <a:prstGeom prst="ellipse">
            <a:avLst/>
          </a:prstGeom>
          <a:solidFill>
            <a:srgbClr val="33679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063240"/>
            <a:ext cx="640080" cy="6400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wizard will guide you through the installation of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17.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recommended that you close all other applications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continuing.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확인할 사항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4944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파일을 더블클릭하여 실행합니다.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사용자 계정 컨트롤(UAC) 창이 뜨면 '예'를 클릭합니다.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Welcome 화면에서 [Next] 버튼을 눌러 다음 단계로 진행합니다.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다른 프로그램은 모두 종료하는 것이 안전합니다.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DIRECTORY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경로 지정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프로그램이 설치될 폴더 위치를 지정합니다.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Directory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select a directory for the installation.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4378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Installation Directory 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C:\Program Files\PostgreSQL\17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가이드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특별한 이유가 없다면 기본 경로를 그대로 사용합니다.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경로에 한글, 공백을 포함하지 않는 것이 안전합니다.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경로에 설치하려면 [Browse] 버튼으로 폴더를 선택합니다.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경로에 PostgreSQL 프로그램 파일이 저장됩니다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(데이터 파일 경로는 다음 단계에서 별도 지정).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COMPONENTS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구성 요소 선택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PostgreSQL 구성 요소를 체크박스로 선택합니다.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Components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505456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336791"/>
          </a:solidFill>
          <a:ln w="15875">
            <a:solidFill>
              <a:srgbClr val="3367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" y="2468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871216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336791"/>
          </a:solidFill>
          <a:ln w="15875">
            <a:solidFill>
              <a:srgbClr val="3367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" y="28346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236976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336791"/>
          </a:solidFill>
          <a:ln w="15875">
            <a:solidFill>
              <a:srgbClr val="3367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" y="32004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Builder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602736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336791"/>
          </a:solidFill>
          <a:ln w="15875">
            <a:solidFill>
              <a:srgbClr val="3367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" y="3566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557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Line Tools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설명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242316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2596896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635240" y="2478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Server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635240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엔진 본체 (필수)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949440" y="329184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3465576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6352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7635240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관리 도구 - 테이블/쿼리 관리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949440" y="416052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4334256"/>
            <a:ext cx="365760" cy="3657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635240" y="42153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Builder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7635240" y="4526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드라이버 · 도구 설치 유틸리티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949440" y="502920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5202936"/>
            <a:ext cx="365760" cy="36576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635240" y="5084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Line Tools</a:t>
            </a:r>
            <a:endParaRPr lang="en-US" sz="1250" dirty="0"/>
          </a:p>
        </p:txBody>
      </p:sp>
      <p:sp>
        <p:nvSpPr>
          <p:cNvPr id="46" name="Text 40"/>
          <p:cNvSpPr/>
          <p:nvPr/>
        </p:nvSpPr>
        <p:spPr>
          <a:xfrm>
            <a:off x="7635240" y="5394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psql 등 CLI 명령어 도구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DIRECTORY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디렉터리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데이터베이스 파일이 저장될 데이터 디렉터리를 지정합니다.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Directory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select a directory for storing your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4378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Directory 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C:\Program Files\PostgreSQL\17\data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가이드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테이블, 인덱스 등 실제 데이터가 저장되는 폴더입니다.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일반적으로 설치 경로 하위의 data 폴더를 그대로 사용합니다.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데이터를 다룰 경우 별도의 저장 공간(드라이브)을 지정할 수 있습니다.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후에는 변경이 번거로우므로 신중하게 지정합니다.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관리자(superuser) 비밀번호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관리자 계정 'postgres'의 비밀번호를 설정합니다.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provide a password for the database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superuser (postgres).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4378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 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57530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557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Retype password :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94106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227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기억하세요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49440" y="242316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DEDEC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65176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178040" y="3200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비밀번호는 postgres 관리자 계정의 접속 비밀번호로,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분실 시 별도의 복구 절차가 필요합니다.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기억할 수 있는 곳에 기록해 두세요.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49440" y="4572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영문, 숫자를 조합한 안전한 비밀번호를 사용하세요.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pgAdmin, psql 등 모든 도구 접속 시 이 비밀번호가 사용됩니다.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번호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서버가 사용할 네트워크 포트 번호를 지정합니다.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select the port number the server should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 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4378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가이드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5432를 그대로 사용하는 것을 권장합니다.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프로그램이 5432 포트를 이미 사용 중이라면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5433 등 다른 번호로 변경합니다.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포트 번호는 이후 pgAdmin·psql 등에서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접속할 때 동일하게 입력해야 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50292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525780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81812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기억해두면 좋은 정보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기본 포트 = 5432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로케일(Locale)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데이터베이스에서 사용할 언어 및 지역 설정(정렬 기준, 날짜 형식 등)을 지정합니다.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select the locale to be used by the new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cluster.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4378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Locale 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5212080" cy="237744"/>
          </a:xfrm>
          <a:prstGeom prst="roundRect">
            <a:avLst>
              <a:gd name="adj" fmla="val 11538"/>
            </a:avLst>
          </a:prstGeom>
          <a:solidFill>
            <a:srgbClr val="EAF2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Korean, Korea  (또는 C / Default)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가이드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데이터의 정렬·비교를 위해 'Korean, Korea'를 선택할 수 있습니다.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실습 목적이라면 기본값(Default) 또는 'C'를 사용해도 무방합니다.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로케일은 설치 이후 변경이 어려우므로 처음에 신중히 선택합니다.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INSTALL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요약 확인 및 진행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설정한 내용을 확인하고 설치를 시작합니다.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Install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Installation Directory : C:\...\PostgreSQL\17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Directory : C:\...\PostgreSQL\17\data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: 5432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57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Locale : Korean, Korea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진행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2423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요약 내용을 한 번 더 확인합니다.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이상이 없으면 [Next]를 눌러 설치를 시작합니다.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진행되는 동안 진행률(progress bar)이 표시됩니다.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완료까지 컴퓨터 환경에 따라 수 분 정도 소요될 수 있습니다.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Builder 실행 여부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끝나면 추가 도구를 설치할 수 있는 Stack Builder 실행 여부를 묻습니다.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76856"/>
            <a:ext cx="603504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16836"/>
            <a:ext cx="82296" cy="822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16836"/>
            <a:ext cx="82296" cy="8229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1168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965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Setup Wizard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59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Setup has finished installing PostgreSQL on your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71216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AAB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25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Launch Stack Builder at exit?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336791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77640" y="566928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B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Back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체크박스 선택 가이드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242316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63347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17804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Builder는 PostGIS, ODBC 드라이버 등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확장 도구를 설치하는 유틸리티입니다.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SQL 학습 목적이라면 체크를 해제하고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넘어가도 무방합니다.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49440" y="4160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해제 후 </a:t>
            </a:r>
            <a:pPr indent="0" marL="0">
              <a:buNone/>
            </a:pPr>
            <a:r>
              <a:rPr lang="en-US" sz="1250" b="1" dirty="0">
                <a:solidFill>
                  <a:srgbClr val="3367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[Finish]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버튼을 눌러 설치 마법사를 종료합니다.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713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정상적으로 완료되었는지 두 가지 방법으로 확인합니다.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1C2536"/>
          </a:solidFill>
          <a:ln/>
          <a:effectLst>
            <a:outerShdw sx="100000" sy="100000" kx="0" ky="0" algn="bl" rotWithShape="0" blurRad="127000" dist="38100" dir="5400000">
              <a:srgbClr val="16233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2103120"/>
            <a:ext cx="91440" cy="9144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" y="2103120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C:\Users\student&gt; psql -U postgres -V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(PostgreSQL) 17.0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C:\Users\student&gt; psql -U postgres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for user postgres: ****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(17.0)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"help" for help.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E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postgres=#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6974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85292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25877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프롬프트(CLI)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60920" y="29260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psql -U postgres -V 명령으로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 버전을 확인합니다.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38862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4315968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40507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실행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360920" y="43891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메뉴에서 pgAdmin 4를 실행해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화면이 정상적으로 뜨는지 확인합니다.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286000"/>
            <a:ext cx="1371600" cy="1371600"/>
          </a:xfrm>
          <a:prstGeom prst="ellipse">
            <a:avLst/>
          </a:prstGeom>
          <a:solidFill>
            <a:srgbClr val="33679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651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완료!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매뉴얼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0" y="868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단계 한눈에 보기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4924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페이지 접속 및 설치 파일 다운로드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49240" y="2377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마법사 실행 → 설치 경로 지정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315468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49240" y="3154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구성 요소 선택 (Server / pgAdmin 4 등)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393192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49240" y="39319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디렉터리 지정 → superuser 비밀번호 설정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470916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349240" y="4709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번호(5432) · 로케일 설정 후 설치 진행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5486400"/>
            <a:ext cx="502920" cy="50292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76200" dist="25400" dir="5400000">
              <a:srgbClr val="16233F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634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349240" y="5486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psql 또는 pgAdmin 4로 설치 확인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Community 설치 매뉴얼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63440" y="6309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F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시간에는 pgAdmin 4로 데이터베이스와 테이블을 생성해봅니다.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Community 설치 매뉴얼</dc:title>
  <dc:subject>PptxGenJS Presentation</dc:subject>
  <dc:creator>SQL Course</dc:creator>
  <cp:lastModifiedBy>SQL Course</cp:lastModifiedBy>
  <cp:revision>1</cp:revision>
  <dcterms:created xsi:type="dcterms:W3CDTF">2026-07-09T10:02:36Z</dcterms:created>
  <dcterms:modified xsi:type="dcterms:W3CDTF">2026-07-09T10:02:36Z</dcterms:modified>
</cp:coreProperties>
</file>